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6" r:id="rId4"/>
    <p:sldId id="285" r:id="rId5"/>
    <p:sldId id="258" r:id="rId6"/>
    <p:sldId id="278" r:id="rId7"/>
    <p:sldId id="261" r:id="rId8"/>
    <p:sldId id="279" r:id="rId9"/>
    <p:sldId id="280" r:id="rId10"/>
    <p:sldId id="281" r:id="rId11"/>
    <p:sldId id="263" r:id="rId12"/>
    <p:sldId id="282" r:id="rId13"/>
    <p:sldId id="283" r:id="rId14"/>
    <p:sldId id="272" r:id="rId15"/>
    <p:sldId id="273" r:id="rId16"/>
    <p:sldId id="276" r:id="rId17"/>
    <p:sldId id="28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BCDD1A-6E07-49B3-B06A-383AFEBEB551}">
          <p14:sldIdLst>
            <p14:sldId id="256"/>
            <p14:sldId id="257"/>
            <p14:sldId id="286"/>
            <p14:sldId id="285"/>
            <p14:sldId id="258"/>
          </p14:sldIdLst>
        </p14:section>
        <p14:section name="Untitled Section" id="{225549AA-2EAF-40B1-8BFD-0BED88867869}">
          <p14:sldIdLst>
            <p14:sldId id="278"/>
            <p14:sldId id="261"/>
            <p14:sldId id="279"/>
            <p14:sldId id="280"/>
            <p14:sldId id="281"/>
            <p14:sldId id="263"/>
            <p14:sldId id="282"/>
            <p14:sldId id="283"/>
            <p14:sldId id="272"/>
            <p14:sldId id="273"/>
            <p14:sldId id="276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58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https://courses.cs.umbc.edu/471/papers/turing.pdf</a:t>
            </a:r>
            <a:br>
              <a:rPr lang="en-US" dirty="0" smtClean="0"/>
            </a:br>
            <a:r>
              <a:rPr lang="en-US" dirty="0" smtClean="0"/>
              <a:t>BY </a:t>
            </a:r>
            <a:r>
              <a:rPr lang="en-US" dirty="0" err="1" smtClean="0"/>
              <a:t>alan</a:t>
            </a:r>
            <a:r>
              <a:rPr lang="en-US" dirty="0" smtClean="0"/>
              <a:t> turning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0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01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83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08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27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70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68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9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After completing the Logistic Regression model: Train a different classification algorithm using the same prepared dataset and compare its performance with Logistic Regression. For example (Decision Tree)</a:t>
            </a:r>
            <a:br>
              <a:rPr lang="en-US" dirty="0" smtClean="0"/>
            </a:br>
            <a:r>
              <a:rPr lang="en-US" dirty="0" smtClean="0"/>
              <a:t>You will understand that the same Machine Learning problem can be solved using different algorithms, and model evaluation helps us determine which approach performs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Historical student data provides the examples our model needs to learn patterns associated with PASS and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1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lama.com/downloa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0"/>
            <a:ext cx="73152" cy="68580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4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854964"/>
            <a:ext cx="173736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538" y="3066396"/>
            <a:ext cx="171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01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451860" y="1293876"/>
            <a:ext cx="5193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5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Foundational Concepts</a:t>
            </a:r>
            <a:endParaRPr lang="en-US" sz="3550" dirty="0"/>
          </a:p>
          <a:p>
            <a:pPr marL="0" indent="0">
              <a:buNone/>
            </a:pPr>
            <a:r>
              <a:rPr lang="en-US" sz="355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Working Setup</a:t>
            </a:r>
            <a:endParaRPr lang="en-US" sz="3550" dirty="0"/>
          </a:p>
        </p:txBody>
      </p:sp>
      <p:sp>
        <p:nvSpPr>
          <p:cNvPr id="7" name="Text 4"/>
          <p:cNvSpPr/>
          <p:nvPr/>
        </p:nvSpPr>
        <p:spPr>
          <a:xfrm>
            <a:off x="3520440" y="25420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Machine Learning Track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20440" y="2774718"/>
            <a:ext cx="954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smtClean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52023" y="3185349"/>
            <a:ext cx="256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A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1742" y="3349941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2B7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focus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3710886" y="377056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3930342" y="3752277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core AI terms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3710886" y="408146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3930342" y="4063173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tools </a:t>
            </a:r>
            <a:r>
              <a:rPr lang="en-US" sz="1040" dirty="0" smtClean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Environment</a:t>
            </a:r>
            <a:endParaRPr lang="en-US" sz="10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53808">
            <a:off x="3799651" y="1128159"/>
            <a:ext cx="8788798" cy="494001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CONTENTS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585216" y="941832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" y="102412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252728" y="9601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121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and Deep </a:t>
            </a: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Learning, Generative AI</a:t>
            </a:r>
            <a:endParaRPr lang="en-US" sz="1210" dirty="0"/>
          </a:p>
        </p:txBody>
      </p:sp>
      <p:sp>
        <p:nvSpPr>
          <p:cNvPr id="13" name="Text 10"/>
          <p:cNvSpPr/>
          <p:nvPr/>
        </p:nvSpPr>
        <p:spPr>
          <a:xfrm>
            <a:off x="5138928" y="960120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 smtClean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Foundational Concepts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32104" y="1371600"/>
            <a:ext cx="0" cy="228600"/>
          </a:xfrm>
          <a:prstGeom prst="line">
            <a:avLst/>
          </a:prstGeom>
          <a:noFill/>
          <a:ln w="14605">
            <a:solidFill>
              <a:srgbClr val="DDEAF3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5216" y="1645920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" y="172821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1252728" y="16642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concepts</a:t>
            </a:r>
            <a:endParaRPr lang="en-US" sz="1210" dirty="0"/>
          </a:p>
        </p:txBody>
      </p:sp>
      <p:sp>
        <p:nvSpPr>
          <p:cNvPr id="19" name="Shape 16"/>
          <p:cNvSpPr/>
          <p:nvPr/>
        </p:nvSpPr>
        <p:spPr>
          <a:xfrm>
            <a:off x="832104" y="2075688"/>
            <a:ext cx="0" cy="228600"/>
          </a:xfrm>
          <a:prstGeom prst="line">
            <a:avLst/>
          </a:prstGeom>
          <a:noFill/>
          <a:ln w="14605">
            <a:solidFill>
              <a:srgbClr val="DDEAF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85216" y="2350008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243230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1252728" y="23682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Concepts</a:t>
            </a:r>
            <a:endParaRPr lang="en-US" sz="1210" dirty="0"/>
          </a:p>
        </p:txBody>
      </p:sp>
      <p:sp>
        <p:nvSpPr>
          <p:cNvPr id="24" name="Shape 21"/>
          <p:cNvSpPr/>
          <p:nvPr/>
        </p:nvSpPr>
        <p:spPr>
          <a:xfrm>
            <a:off x="832104" y="2779776"/>
            <a:ext cx="0" cy="228600"/>
          </a:xfrm>
          <a:prstGeom prst="line">
            <a:avLst/>
          </a:prstGeom>
          <a:noFill/>
          <a:ln w="14605">
            <a:solidFill>
              <a:srgbClr val="DDEAF3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85216" y="3054096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" y="313639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1252728" y="3072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01: Student Performance Prediction</a:t>
            </a:r>
            <a:endParaRPr lang="en-US" sz="1210" dirty="0"/>
          </a:p>
        </p:txBody>
      </p:sp>
      <p:sp>
        <p:nvSpPr>
          <p:cNvPr id="29" name="Shape 26"/>
          <p:cNvSpPr/>
          <p:nvPr/>
        </p:nvSpPr>
        <p:spPr>
          <a:xfrm>
            <a:off x="832104" y="3483864"/>
            <a:ext cx="0" cy="228600"/>
          </a:xfrm>
          <a:prstGeom prst="line">
            <a:avLst/>
          </a:prstGeom>
          <a:noFill/>
          <a:ln w="14605">
            <a:solidFill>
              <a:srgbClr val="DDEAF3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85216" y="3758184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" y="384048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1252728" y="37764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&amp; Resources</a:t>
            </a:r>
            <a:endParaRPr lang="en-US" sz="1210" dirty="0"/>
          </a:p>
        </p:txBody>
      </p:sp>
      <p:sp>
        <p:nvSpPr>
          <p:cNvPr id="34" name="Shape 31"/>
          <p:cNvSpPr/>
          <p:nvPr/>
        </p:nvSpPr>
        <p:spPr>
          <a:xfrm>
            <a:off x="832104" y="4187952"/>
            <a:ext cx="0" cy="228600"/>
          </a:xfrm>
          <a:prstGeom prst="line">
            <a:avLst/>
          </a:prstGeom>
          <a:noFill/>
          <a:ln w="14605">
            <a:solidFill>
              <a:srgbClr val="DDEAF3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85216" y="4462272"/>
            <a:ext cx="493776" cy="411480"/>
          </a:xfrm>
          <a:prstGeom prst="roundRect">
            <a:avLst>
              <a:gd name="adj" fmla="val 17778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" y="454456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1252728" y="45171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2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6" y="356616"/>
            <a:ext cx="8670064" cy="578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4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02" y="210312"/>
            <a:ext cx="3761274" cy="37612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67641" y="387495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AI learns from human-created data, can AI become better than humans at making decisions?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424634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Intersect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52848" y="52258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2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</a:t>
            </a:r>
            <a:r>
              <a:rPr lang="en-US" sz="2720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landscape</a:t>
            </a:r>
            <a:endParaRPr lang="en-US" sz="2720" b="1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59" y="1144244"/>
            <a:ext cx="4180793" cy="48762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00698" y="1089511"/>
            <a:ext cx="6614268" cy="4205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the overall goal of making computers perform tasks that normally require human intelligence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is one way of building AI systems. Instead of writing every rule manually, we give the computer data and let it learn patterns from examples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learn relationships by passing information through connected layers of artificial neurons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is a branch of neural networks that uses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layers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Generative AI uses learned patterns to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content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only classify or predict something. It can generate text, images, audio, video, and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0719" y="5478823"/>
            <a:ext cx="468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every AI system uses Machine Learning because some </a:t>
            </a:r>
            <a:endParaRPr lang="en-US" sz="1400" b="1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simply follow predefined rules.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Intersect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52848" y="52258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/>
              <a:t>Two simple types of AI systems</a:t>
            </a:r>
            <a:endParaRPr lang="en-US" sz="272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585216" y="1302818"/>
            <a:ext cx="2977869" cy="1343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Rule-Based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32" y="2707185"/>
            <a:ext cx="339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written by humans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" y="3614670"/>
            <a:ext cx="4019637" cy="267975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55554" y="1302818"/>
            <a:ext cx="3332030" cy="1343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Learning-Based AI</a:t>
            </a:r>
            <a:endParaRPr lang="en-US" sz="28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46509" y="2691340"/>
            <a:ext cx="3396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patterns from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 or Deep Learning.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976" y="3614670"/>
            <a:ext cx="4364682" cy="29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1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Machine Learning (ML)</a:t>
            </a:r>
            <a:endParaRPr lang="en-US" sz="2720" dirty="0"/>
          </a:p>
        </p:txBody>
      </p:sp>
      <p:sp>
        <p:nvSpPr>
          <p:cNvPr id="26" name="TextBox 25"/>
          <p:cNvSpPr txBox="1"/>
          <p:nvPr/>
        </p:nvSpPr>
        <p:spPr>
          <a:xfrm>
            <a:off x="463835" y="1169400"/>
            <a:ext cx="8138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 Learning is a branch of AI where computers learn patterns from data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make predictions or decisions, instead of being given every rule manually.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35" y="2158484"/>
            <a:ext cx="5561381" cy="2920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How Machine Learning Works</a:t>
            </a:r>
            <a:endParaRPr lang="en-US" sz="2720" dirty="0"/>
          </a:p>
        </p:txBody>
      </p:sp>
      <p:sp>
        <p:nvSpPr>
          <p:cNvPr id="26" name="TextBox 25"/>
          <p:cNvSpPr txBox="1"/>
          <p:nvPr/>
        </p:nvSpPr>
        <p:spPr>
          <a:xfrm>
            <a:off x="463835" y="1169400"/>
            <a:ext cx="9355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 Learning follows a simple process: </a:t>
            </a:r>
            <a:r>
              <a:rPr lang="en-US" b="1" dirty="0"/>
              <a:t>it learns from existing data, creates a model, </a:t>
            </a:r>
            <a:endParaRPr lang="en-US" b="1" dirty="0" smtClean="0"/>
          </a:p>
          <a:p>
            <a:r>
              <a:rPr lang="en-US" b="1" dirty="0" smtClean="0"/>
              <a:t>and </a:t>
            </a:r>
            <a:r>
              <a:rPr lang="en-US" b="1" dirty="0"/>
              <a:t>uses that model to make predictions on new data.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923252"/>
            <a:ext cx="5893362" cy="392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1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Main Types of Machine Learning</a:t>
            </a:r>
            <a:endParaRPr lang="en-US" sz="272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864508"/>
              </p:ext>
            </p:extLst>
          </p:nvPr>
        </p:nvGraphicFramePr>
        <p:xfrm>
          <a:off x="585217" y="1278016"/>
          <a:ext cx="10994485" cy="4058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98897">
                  <a:extLst>
                    <a:ext uri="{9D8B030D-6E8A-4147-A177-3AD203B41FA5}">
                      <a16:colId xmlns:a16="http://schemas.microsoft.com/office/drawing/2014/main" val="240505678"/>
                    </a:ext>
                  </a:extLst>
                </a:gridCol>
                <a:gridCol w="2198897">
                  <a:extLst>
                    <a:ext uri="{9D8B030D-6E8A-4147-A177-3AD203B41FA5}">
                      <a16:colId xmlns:a16="http://schemas.microsoft.com/office/drawing/2014/main" val="2489285239"/>
                    </a:ext>
                  </a:extLst>
                </a:gridCol>
                <a:gridCol w="2198897">
                  <a:extLst>
                    <a:ext uri="{9D8B030D-6E8A-4147-A177-3AD203B41FA5}">
                      <a16:colId xmlns:a16="http://schemas.microsoft.com/office/drawing/2014/main" val="2553551138"/>
                    </a:ext>
                  </a:extLst>
                </a:gridCol>
                <a:gridCol w="2198897">
                  <a:extLst>
                    <a:ext uri="{9D8B030D-6E8A-4147-A177-3AD203B41FA5}">
                      <a16:colId xmlns:a16="http://schemas.microsoft.com/office/drawing/2014/main" val="4124348645"/>
                    </a:ext>
                  </a:extLst>
                </a:gridCol>
                <a:gridCol w="2198897">
                  <a:extLst>
                    <a:ext uri="{9D8B030D-6E8A-4147-A177-3AD203B41FA5}">
                      <a16:colId xmlns:a16="http://schemas.microsoft.com/office/drawing/2014/main" val="16341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How It Learns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919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Supervised Learning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Learns from examples where the correct answers are already provided.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Labeled data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Compares its predictions with known answers and learns the patterns.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Spam Detection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7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Unsupervised Learning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Learns from data without correct answers and discovers hidden patterns or groups.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Unlabeled data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Looks for similarities, differences, and natural structures in the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Customer Grouping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2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Reinforcement Learning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Learns which actions work best by interacting with an environment and receiving feedback.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Experience &amp; feedback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Takes an action → sees the result → receives feedback → improves future actions.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Robot Navigation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23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61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/>
              <a:t>Essential Machine Learning Terminology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98142"/>
              </p:ext>
            </p:extLst>
          </p:nvPr>
        </p:nvGraphicFramePr>
        <p:xfrm>
          <a:off x="585217" y="1278017"/>
          <a:ext cx="10945933" cy="438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12096">
                  <a:extLst>
                    <a:ext uri="{9D8B030D-6E8A-4147-A177-3AD203B41FA5}">
                      <a16:colId xmlns:a16="http://schemas.microsoft.com/office/drawing/2014/main" val="240505678"/>
                    </a:ext>
                  </a:extLst>
                </a:gridCol>
                <a:gridCol w="8133837">
                  <a:extLst>
                    <a:ext uri="{9D8B030D-6E8A-4147-A177-3AD203B41FA5}">
                      <a16:colId xmlns:a16="http://schemas.microsoft.com/office/drawing/2014/main" val="2489285239"/>
                    </a:ext>
                  </a:extLst>
                </a:gridCol>
              </a:tblGrid>
              <a:tr h="275018">
                <a:tc>
                  <a:txBody>
                    <a:bodyPr/>
                    <a:lstStyle/>
                    <a:p>
                      <a:r>
                        <a:rPr lang="en-US" dirty="0" smtClean="0"/>
                        <a:t>Term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919690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Feature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Information used by the model to learn or make a prediction.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77927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Label / Target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answer or value the model is trying to predict.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2826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Training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process where the model learns patterns from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23622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Inference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Using a trained model to produce an answer for new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42435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Classification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Predicting a </a:t>
                      </a:r>
                      <a:r>
                        <a:rPr lang="en-US" sz="1600" b="1" dirty="0" smtClean="0"/>
                        <a:t>category</a:t>
                      </a:r>
                      <a:r>
                        <a:rPr lang="en-US" sz="1600" dirty="0" smtClean="0"/>
                        <a:t>, such as Spam / Not Spam.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399355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Regression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Predicting a </a:t>
                      </a:r>
                      <a:r>
                        <a:rPr lang="en-US" sz="1600" b="1" dirty="0" smtClean="0"/>
                        <a:t>number</a:t>
                      </a:r>
                      <a:r>
                        <a:rPr lang="en-US" sz="1600" dirty="0" smtClean="0"/>
                        <a:t>, such as a house price.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937758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Accuracy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How often the model makes the correct prediction.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02011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Epoch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One complete pass through the training dataset.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259533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Overfitting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model learns the training data too closely and performs poorly on new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634177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Underfitting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model has not learned enough to capture important patterns.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2165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Generalization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How well the model works on new, unseen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796062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353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61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3312" y="1876321"/>
            <a:ext cx="6280548" cy="418703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Large Language Models (LLMs)</a:t>
            </a:r>
            <a:endParaRPr lang="en-US" sz="2720" dirty="0"/>
          </a:p>
        </p:txBody>
      </p:sp>
      <p:sp>
        <p:nvSpPr>
          <p:cNvPr id="26" name="TextBox 25"/>
          <p:cNvSpPr txBox="1"/>
          <p:nvPr/>
        </p:nvSpPr>
        <p:spPr>
          <a:xfrm>
            <a:off x="488112" y="1229990"/>
            <a:ext cx="10868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Large Language Model (LLM) is a deep learning model trained on large amounts of text to understand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generate human-like language.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7072" y="1943306"/>
            <a:ext cx="82205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 smtClean="0"/>
              <a:t>Language </a:t>
            </a:r>
            <a:r>
              <a:rPr lang="en-US" sz="1600" dirty="0"/>
              <a:t>Patterns: Learns how words and ideas relate</a:t>
            </a:r>
            <a:r>
              <a:rPr lang="en-US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sz="1600" dirty="0"/>
              <a:t>Context: Uses surrounding text to understand what is being discussed</a:t>
            </a:r>
            <a:r>
              <a:rPr lang="en-US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sz="1600" dirty="0"/>
              <a:t>Next-Token Prediction: Generates text by predicting the next likely token repeatedly.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7072" y="2774303"/>
            <a:ext cx="79717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 example</a:t>
            </a:r>
            <a:r>
              <a:rPr lang="en-US" sz="1600" dirty="0" smtClean="0"/>
              <a:t>:</a:t>
            </a:r>
          </a:p>
          <a:p>
            <a:r>
              <a:rPr lang="en-US" sz="1600" dirty="0"/>
              <a:t>“Machine learning is a type of </a:t>
            </a:r>
            <a:r>
              <a:rPr lang="en-US" sz="1600" dirty="0" smtClean="0"/>
              <a:t>___”</a:t>
            </a:r>
          </a:p>
          <a:p>
            <a:r>
              <a:rPr lang="en-US" sz="1600" dirty="0"/>
              <a:t>→ the model may predict </a:t>
            </a:r>
            <a:r>
              <a:rPr lang="en-US" sz="1600" b="1" dirty="0"/>
              <a:t>“AI</a:t>
            </a:r>
            <a:r>
              <a:rPr lang="en-US" sz="1600" b="1" dirty="0" smtClean="0"/>
              <a:t>”</a:t>
            </a:r>
          </a:p>
          <a:p>
            <a:r>
              <a:rPr lang="en-US" sz="1600" dirty="0"/>
              <a:t>Then it predicts the next token, then the next, gradually creating a complete response.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7072" y="4034107"/>
            <a:ext cx="34708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Examples of LLMs</a:t>
            </a:r>
          </a:p>
          <a:p>
            <a:r>
              <a:rPr lang="en-US" b="1" dirty="0"/>
              <a:t>GPT • Gemini • Claude • Llama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&amp; resources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Setup &amp; Resources</a:t>
            </a:r>
            <a:endParaRPr lang="en-US" sz="272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2975"/>
              </p:ext>
            </p:extLst>
          </p:nvPr>
        </p:nvGraphicFramePr>
        <p:xfrm>
          <a:off x="585212" y="1192788"/>
          <a:ext cx="11164422" cy="243635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582211">
                  <a:extLst>
                    <a:ext uri="{9D8B030D-6E8A-4147-A177-3AD203B41FA5}">
                      <a16:colId xmlns:a16="http://schemas.microsoft.com/office/drawing/2014/main" val="2254144713"/>
                    </a:ext>
                  </a:extLst>
                </a:gridCol>
                <a:gridCol w="5582211">
                  <a:extLst>
                    <a:ext uri="{9D8B030D-6E8A-4147-A177-3AD203B41FA5}">
                      <a16:colId xmlns:a16="http://schemas.microsoft.com/office/drawing/2014/main" val="3692113906"/>
                    </a:ext>
                  </a:extLst>
                </a:gridCol>
              </a:tblGrid>
              <a:tr h="347175">
                <a:tc>
                  <a:txBody>
                    <a:bodyPr/>
                    <a:lstStyle/>
                    <a:p>
                      <a:r>
                        <a:rPr lang="en-US" dirty="0" smtClean="0"/>
                        <a:t>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694"/>
                  </a:ext>
                </a:extLst>
              </a:tr>
              <a:tr h="607556">
                <a:tc>
                  <a:txBody>
                    <a:bodyPr/>
                    <a:lstStyle/>
                    <a:p>
                      <a:r>
                        <a:rPr lang="en-US" dirty="0" smtClean="0"/>
                        <a:t>Google </a:t>
                      </a:r>
                      <a:r>
                        <a:rPr lang="en-US" dirty="0" err="1" smtClean="0"/>
                        <a:t>Colab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Main environment for ML practice and model training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6785"/>
                  </a:ext>
                </a:extLst>
              </a:tr>
              <a:tr h="347175">
                <a:tc>
                  <a:txBody>
                    <a:bodyPr/>
                    <a:lstStyle/>
                    <a:p>
                      <a:r>
                        <a:rPr lang="en-US" dirty="0" smtClean="0"/>
                        <a:t>VS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coding and project development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79783"/>
                  </a:ext>
                </a:extLst>
              </a:tr>
              <a:tr h="347175">
                <a:tc>
                  <a:txBody>
                    <a:bodyPr/>
                    <a:lstStyle/>
                    <a:p>
                      <a:r>
                        <a:rPr lang="en-US" dirty="0" smtClean="0"/>
                        <a:t>Python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Main programming language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60056"/>
                  </a:ext>
                </a:extLst>
              </a:tr>
              <a:tr h="3471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Jupyter</a:t>
                      </a:r>
                      <a:r>
                        <a:rPr lang="en-US" dirty="0" smtClean="0"/>
                        <a:t> Extension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Run notebooks directly inside VS Code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448493"/>
                  </a:ext>
                </a:extLst>
              </a:tr>
              <a:tr h="3471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Ollama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Run LLMs locally for project inference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07518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778333"/>
            <a:ext cx="7615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Resources — </a:t>
            </a:r>
            <a:r>
              <a:rPr lang="en-US" b="1" dirty="0" smtClean="0"/>
              <a:t>GitHub</a:t>
            </a:r>
          </a:p>
          <a:p>
            <a:r>
              <a:rPr lang="en-US" dirty="0"/>
              <a:t>All workshop and project materials will be available in </a:t>
            </a:r>
            <a:r>
              <a:rPr lang="en-US" b="1" dirty="0" smtClean="0"/>
              <a:t>GitHub </a:t>
            </a:r>
            <a:r>
              <a:rPr lang="en-US" b="1" dirty="0"/>
              <a:t>repository</a:t>
            </a:r>
            <a:r>
              <a:rPr lang="en-US" dirty="0" smtClean="0"/>
              <a:t>:</a:t>
            </a:r>
          </a:p>
          <a:p>
            <a:r>
              <a:rPr lang="en-US" dirty="0"/>
              <a:t>Link: </a:t>
            </a:r>
            <a:r>
              <a:rPr lang="en-US" b="1" dirty="0">
                <a:solidFill>
                  <a:srgbClr val="00B0F0"/>
                </a:solidFill>
              </a:rPr>
              <a:t>https://github.com/Bile-Initiative-AIML-Track/aiml-track-resources</a:t>
            </a:r>
          </a:p>
        </p:txBody>
      </p:sp>
    </p:spTree>
    <p:extLst>
      <p:ext uri="{BB962C8B-B14F-4D97-AF65-F5344CB8AC3E}">
        <p14:creationId xmlns:p14="http://schemas.microsoft.com/office/powerpoint/2010/main" val="358128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&amp; resources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 smtClean="0"/>
              <a:t>Specs &amp; Links</a:t>
            </a:r>
            <a:endParaRPr lang="en-US" sz="272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24701"/>
              </p:ext>
            </p:extLst>
          </p:nvPr>
        </p:nvGraphicFramePr>
        <p:xfrm>
          <a:off x="585212" y="1192788"/>
          <a:ext cx="11073388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536694">
                  <a:extLst>
                    <a:ext uri="{9D8B030D-6E8A-4147-A177-3AD203B41FA5}">
                      <a16:colId xmlns:a16="http://schemas.microsoft.com/office/drawing/2014/main" val="2254144713"/>
                    </a:ext>
                  </a:extLst>
                </a:gridCol>
                <a:gridCol w="5536694">
                  <a:extLst>
                    <a:ext uri="{9D8B030D-6E8A-4147-A177-3AD203B41FA5}">
                      <a16:colId xmlns:a16="http://schemas.microsoft.com/office/drawing/2014/main" val="3692113906"/>
                    </a:ext>
                  </a:extLst>
                </a:gridCol>
              </a:tblGrid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Components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Minimum*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694"/>
                  </a:ext>
                </a:extLst>
              </a:tr>
              <a:tr h="232876">
                <a:tc>
                  <a:txBody>
                    <a:bodyPr/>
                    <a:lstStyle/>
                    <a:p>
                      <a:r>
                        <a:rPr lang="en-US" dirty="0" smtClean="0"/>
                        <a:t>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8GB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6785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CPU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Core i5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79783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Storage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15-20 GB Free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6005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5249061"/>
            <a:ext cx="10622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If your laptop has </a:t>
            </a:r>
            <a:r>
              <a:rPr lang="en-US" b="1" dirty="0"/>
              <a:t>8 GB RAM</a:t>
            </a:r>
            <a:r>
              <a:rPr lang="en-US" dirty="0"/>
              <a:t>, use </a:t>
            </a:r>
            <a:r>
              <a:rPr lang="en-US" b="1" dirty="0"/>
              <a:t>small quantized models (1B–3B)</a:t>
            </a:r>
            <a:r>
              <a:rPr lang="en-US" dirty="0"/>
              <a:t> for smoother performance. </a:t>
            </a:r>
            <a:endParaRPr lang="en-US" dirty="0" smtClean="0"/>
          </a:p>
          <a:p>
            <a:r>
              <a:rPr lang="en-US" b="1" dirty="0" smtClean="0"/>
              <a:t>Avoid </a:t>
            </a:r>
            <a:r>
              <a:rPr lang="en-US" b="1" dirty="0"/>
              <a:t>larger models</a:t>
            </a:r>
            <a:r>
              <a:rPr lang="en-US" dirty="0"/>
              <a:t>, as they may exceed your system’s available memory.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044742"/>
              </p:ext>
            </p:extLst>
          </p:nvPr>
        </p:nvGraphicFramePr>
        <p:xfrm>
          <a:off x="585216" y="2808411"/>
          <a:ext cx="11073388" cy="21945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536694">
                  <a:extLst>
                    <a:ext uri="{9D8B030D-6E8A-4147-A177-3AD203B41FA5}">
                      <a16:colId xmlns:a16="http://schemas.microsoft.com/office/drawing/2014/main" val="2254144713"/>
                    </a:ext>
                  </a:extLst>
                </a:gridCol>
                <a:gridCol w="5536694">
                  <a:extLst>
                    <a:ext uri="{9D8B030D-6E8A-4147-A177-3AD203B41FA5}">
                      <a16:colId xmlns:a16="http://schemas.microsoft.com/office/drawing/2014/main" val="3692113906"/>
                    </a:ext>
                  </a:extLst>
                </a:gridCol>
              </a:tblGrid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694"/>
                  </a:ext>
                </a:extLst>
              </a:tr>
              <a:tr h="232876">
                <a:tc>
                  <a:txBody>
                    <a:bodyPr/>
                    <a:lstStyle/>
                    <a:p>
                      <a:r>
                        <a:rPr lang="en-US" dirty="0" smtClean="0"/>
                        <a:t>Collab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https://colab.research.google.com/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6785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VS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https://code.visualstudio.com/download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79783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smtClean="0"/>
                        <a:t>Python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https://www.python.org/downloads/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60056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Ollama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https://ollama.com/download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1796"/>
                  </a:ext>
                </a:extLst>
              </a:tr>
              <a:tr h="23148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https://git-scm.com/downloads/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702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54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01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</a:t>
            </a:r>
            <a:r>
              <a:rPr lang="en-US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Prediction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6928" y="876933"/>
            <a:ext cx="651538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turns a dataset into a small web app that predicts a student outcome from selected inputs.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6384" y="5495059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559067"/>
            <a:ext cx="12527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2203704" y="5824243"/>
            <a:ext cx="548640" cy="0"/>
          </a:xfrm>
          <a:prstGeom prst="line">
            <a:avLst/>
          </a:prstGeom>
          <a:noFill/>
          <a:ln w="14605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52344" y="5495059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5FA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34640" y="5559067"/>
            <a:ext cx="12527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data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169664" y="5824243"/>
            <a:ext cx="548640" cy="0"/>
          </a:xfrm>
          <a:prstGeom prst="line">
            <a:avLst/>
          </a:prstGeom>
          <a:noFill/>
          <a:ln w="14605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718304" y="5495059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5559067"/>
            <a:ext cx="12527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135624" y="5824243"/>
            <a:ext cx="548640" cy="0"/>
          </a:xfrm>
          <a:prstGeom prst="line">
            <a:avLst/>
          </a:prstGeom>
          <a:noFill/>
          <a:ln w="14605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684264" y="5495059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5FA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5559067"/>
            <a:ext cx="12527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101584" y="5824243"/>
            <a:ext cx="548640" cy="0"/>
          </a:xfrm>
          <a:prstGeom prst="line">
            <a:avLst/>
          </a:prstGeom>
          <a:noFill/>
          <a:ln w="14605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650224" y="5495059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9E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559067"/>
            <a:ext cx="143560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 smtClean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</a:t>
            </a:r>
            <a:r>
              <a:rPr lang="en-US" sz="1120" b="1" dirty="0">
                <a:solidFill>
                  <a:srgbClr val="0B2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2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1351370"/>
            <a:ext cx="1014393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a Machine Learning model that uses </a:t>
            </a:r>
            <a:r>
              <a:rPr lang="en-US" b="1" dirty="0"/>
              <a:t>historical student data</a:t>
            </a:r>
            <a:r>
              <a:rPr lang="en-US" dirty="0"/>
              <a:t> to identify whether a student is</a:t>
            </a:r>
            <a:r>
              <a:rPr lang="en-US" dirty="0" smtClean="0"/>
              <a:t>:</a:t>
            </a:r>
          </a:p>
          <a:p>
            <a:pPr marL="342900" indent="-342900">
              <a:buAutoNum type="arabicPeriod"/>
            </a:pPr>
            <a:r>
              <a:rPr lang="en-US" dirty="0" smtClean="0"/>
              <a:t>Likely </a:t>
            </a:r>
            <a:r>
              <a:rPr lang="en-US" dirty="0"/>
              <a:t>to </a:t>
            </a:r>
            <a:r>
              <a:rPr lang="en-US" dirty="0" smtClean="0"/>
              <a:t>PASS</a:t>
            </a:r>
          </a:p>
          <a:p>
            <a:pPr marL="342900" indent="-342900">
              <a:buAutoNum type="arabicPeriod"/>
            </a:pPr>
            <a:r>
              <a:rPr lang="en-US" dirty="0"/>
              <a:t>At Risk of </a:t>
            </a:r>
            <a:r>
              <a:rPr lang="en-US" dirty="0" smtClean="0"/>
              <a:t>FAILING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Learning Paradigm: Supervised </a:t>
            </a:r>
            <a:r>
              <a:rPr lang="en-US" dirty="0" smtClean="0"/>
              <a:t>Learning</a:t>
            </a:r>
          </a:p>
          <a:p>
            <a:r>
              <a:rPr lang="en-US" dirty="0"/>
              <a:t>Task: Binary </a:t>
            </a:r>
            <a:r>
              <a:rPr lang="en-US" dirty="0" smtClean="0"/>
              <a:t>Classification</a:t>
            </a:r>
          </a:p>
          <a:p>
            <a:r>
              <a:rPr lang="en-US" dirty="0"/>
              <a:t>Target: PASS / </a:t>
            </a:r>
            <a:r>
              <a:rPr lang="en-US" dirty="0" smtClean="0"/>
              <a:t>FAIL</a:t>
            </a:r>
          </a:p>
          <a:p>
            <a:r>
              <a:rPr lang="en-US" dirty="0"/>
              <a:t>Main </a:t>
            </a:r>
            <a:r>
              <a:rPr lang="en-US" dirty="0" smtClean="0"/>
              <a:t>Algorithm: Logistic </a:t>
            </a:r>
            <a:r>
              <a:rPr lang="en-US" dirty="0"/>
              <a:t>Regression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START</a:t>
            </a:r>
            <a:endParaRPr lang="en-US" sz="840" dirty="0"/>
          </a:p>
        </p:txBody>
      </p:sp>
      <p:sp>
        <p:nvSpPr>
          <p:cNvPr id="32" name="TextBox 31"/>
          <p:cNvSpPr txBox="1"/>
          <p:nvPr/>
        </p:nvSpPr>
        <p:spPr>
          <a:xfrm>
            <a:off x="530352" y="658367"/>
            <a:ext cx="950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will use the </a:t>
            </a:r>
            <a:r>
              <a:rPr lang="en-US" b="1" dirty="0"/>
              <a:t>Student Performance Dataset</a:t>
            </a:r>
            <a:r>
              <a:rPr lang="en-US" dirty="0"/>
              <a:t> from the </a:t>
            </a:r>
            <a:r>
              <a:rPr lang="en-US" b="1" dirty="0"/>
              <a:t>UCI Machine Learning Repository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public platform widely used for Machine Learning education and research.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1304698"/>
            <a:ext cx="529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dataset </a:t>
            </a:r>
            <a:r>
              <a:rPr lang="en-US" dirty="0" smtClean="0"/>
              <a:t>contains: 649 </a:t>
            </a:r>
            <a:r>
              <a:rPr lang="en-US" dirty="0"/>
              <a:t>Students • 33 </a:t>
            </a:r>
            <a:r>
              <a:rPr lang="en-US" dirty="0" smtClean="0"/>
              <a:t>Attributes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826430"/>
            <a:ext cx="11187678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 Features (X</a:t>
            </a:r>
            <a:r>
              <a:rPr lang="en-US" b="1" dirty="0" smtClean="0"/>
              <a:t>):</a:t>
            </a:r>
          </a:p>
          <a:p>
            <a:r>
              <a:rPr lang="en-US" sz="1600" dirty="0"/>
              <a:t>Selected student information such as study time, absences, past failures, support, activities, and other relevant attributes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Target (y</a:t>
            </a:r>
            <a:r>
              <a:rPr lang="en-US" sz="1600" dirty="0" smtClean="0"/>
              <a:t>):</a:t>
            </a:r>
          </a:p>
          <a:p>
            <a:endParaRPr lang="en-US" sz="1600" b="1" dirty="0" smtClean="0"/>
          </a:p>
          <a:p>
            <a:r>
              <a:rPr lang="en-US" sz="1600" dirty="0"/>
              <a:t>We use the historical final </a:t>
            </a:r>
            <a:r>
              <a:rPr lang="en-US" sz="1600" dirty="0" smtClean="0"/>
              <a:t>grade </a:t>
            </a:r>
            <a:r>
              <a:rPr lang="en-US" sz="1600" b="1" dirty="0" smtClean="0"/>
              <a:t>G3 to create: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G3 </a:t>
            </a:r>
            <a:r>
              <a:rPr lang="en-US" sz="1600" dirty="0"/>
              <a:t>≥ 10 → PASS (1</a:t>
            </a:r>
            <a:r>
              <a:rPr lang="en-US" sz="160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G3 &lt; 10 → FAIL (0</a:t>
            </a:r>
            <a:r>
              <a:rPr lang="en-US" sz="1600" dirty="0" smtClean="0"/>
              <a:t>)</a:t>
            </a:r>
          </a:p>
          <a:p>
            <a:pPr marL="285750" indent="-285750">
              <a:buFontTx/>
              <a:buChar char="-"/>
            </a:pPr>
            <a:endParaRPr lang="en-US" sz="1600" b="1" dirty="0"/>
          </a:p>
          <a:p>
            <a:r>
              <a:rPr lang="en-US" sz="1600" b="1" dirty="0" smtClean="0"/>
              <a:t>G3 </a:t>
            </a:r>
            <a:r>
              <a:rPr lang="en-US" sz="1600" dirty="0"/>
              <a:t>itself will </a:t>
            </a:r>
            <a:r>
              <a:rPr lang="en-US" sz="1600" b="1" dirty="0"/>
              <a:t>not</a:t>
            </a:r>
            <a:r>
              <a:rPr lang="en-US" sz="1600" dirty="0"/>
              <a:t> be used as an input feature</a:t>
            </a:r>
            <a:r>
              <a:rPr lang="en-US" sz="1600" dirty="0" smtClean="0"/>
              <a:t>.</a:t>
            </a:r>
          </a:p>
          <a:p>
            <a:r>
              <a:rPr lang="en-US" sz="1600" b="1" dirty="0" smtClean="0"/>
              <a:t>As </a:t>
            </a:r>
            <a:r>
              <a:rPr lang="en-US" sz="1600" dirty="0"/>
              <a:t>early-risk, we'll also exclude </a:t>
            </a:r>
            <a:r>
              <a:rPr lang="en-US" sz="1600" b="1" dirty="0"/>
              <a:t>G1 and G2</a:t>
            </a:r>
            <a:r>
              <a:rPr lang="en-US" sz="1600" dirty="0"/>
              <a:t> from the model inputs.</a:t>
            </a:r>
            <a:endParaRPr lang="en-US" sz="1600" b="1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PREVIEW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20" b="1" dirty="0">
                <a:solidFill>
                  <a:srgbClr val="0B25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notebook: open, load, inspect</a:t>
            </a:r>
            <a:endParaRPr lang="en-US" sz="2720" dirty="0"/>
          </a:p>
        </p:txBody>
      </p:sp>
      <p:sp>
        <p:nvSpPr>
          <p:cNvPr id="10" name="Shape 7"/>
          <p:cNvSpPr/>
          <p:nvPr/>
        </p:nvSpPr>
        <p:spPr>
          <a:xfrm>
            <a:off x="868680" y="1664208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7FBFE"/>
          </a:solidFill>
          <a:ln w="10160">
            <a:solidFill>
              <a:srgbClr val="DDEA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199339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253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pandas as pd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3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pd.read_csv('student_data.csv')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3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df.head()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3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df.shape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3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df.info()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0" y="1664208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A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182880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head() shows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6793992" y="22494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7013448" y="223113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few rows, useful for seeing the real columns and values.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6583680" y="292608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A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4848" y="309067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2B7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shape shows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6793992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7013448" y="3493008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rows and columns, useful for understanding dataset size.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6583680" y="4187952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A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43525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info() shows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6793992" y="47731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7013448" y="475488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types and missing values, useful before any cleaning begins.</a:t>
            </a:r>
            <a:endParaRPr lang="en-US" sz="10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pic>
        <p:nvPicPr>
          <p:cNvPr id="3" name="Image 0" descr="/mnt/data/tabaarak_monochro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210312"/>
            <a:ext cx="1344168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364224"/>
            <a:ext cx="11109960" cy="0"/>
          </a:xfrm>
          <a:prstGeom prst="line">
            <a:avLst/>
          </a:prstGeom>
          <a:noFill/>
          <a:ln w="8890">
            <a:solidFill>
              <a:srgbClr val="DDEA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922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1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 Initiative · AI &amp; Machine Learning Track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85216" y="3474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 smtClean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6035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Key Takeaways</a:t>
            </a:r>
            <a:endParaRPr lang="en-US" sz="2720" dirty="0"/>
          </a:p>
        </p:txBody>
      </p:sp>
      <p:sp>
        <p:nvSpPr>
          <p:cNvPr id="9" name="TextBox 8"/>
          <p:cNvSpPr txBox="1"/>
          <p:nvPr/>
        </p:nvSpPr>
        <p:spPr>
          <a:xfrm>
            <a:off x="493529" y="985765"/>
            <a:ext cx="9894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Today, we built the foundation for understanding </a:t>
            </a:r>
            <a:r>
              <a:rPr lang="en-US" b="1" dirty="0"/>
              <a:t>Artificial Intelligence and Machine Learning</a:t>
            </a:r>
            <a:r>
              <a:rPr lang="en-US"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099" y="1545579"/>
            <a:ext cx="96269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ML, Deep Learning, Generative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LLMs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connected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machines use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to discover patterns and make predictions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Supervised, Unsupervised, and Reinforcement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LLMs learn language patterns and use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and token prediction to generate responses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move from understanding AI to working with real data and building practical solutions.</a:t>
            </a:r>
          </a:p>
        </p:txBody>
      </p:sp>
    </p:spTree>
    <p:extLst>
      <p:ext uri="{BB962C8B-B14F-4D97-AF65-F5344CB8AC3E}">
        <p14:creationId xmlns:p14="http://schemas.microsoft.com/office/powerpoint/2010/main" val="242667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2352</TotalTime>
  <Words>1388</Words>
  <Application>Microsoft Office PowerPoint</Application>
  <PresentationFormat>Widescreen</PresentationFormat>
  <Paragraphs>244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Cascadia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Tabaarak ICT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01 - Foundational Concepts and Setup</dc:title>
  <dc:subject>AI &amp; Machine Learning Track - Day 01 Foundations</dc:subject>
  <dc:creator>BILE Initiative / Tabaarak ICT Solutions</dc:creator>
  <cp:lastModifiedBy>Eng Abdirahman Mohamud Abdi</cp:lastModifiedBy>
  <cp:revision>25</cp:revision>
  <dcterms:created xsi:type="dcterms:W3CDTF">2026-08-09T16:00:46Z</dcterms:created>
  <dcterms:modified xsi:type="dcterms:W3CDTF">2026-08-12T09:05:58Z</dcterms:modified>
</cp:coreProperties>
</file>