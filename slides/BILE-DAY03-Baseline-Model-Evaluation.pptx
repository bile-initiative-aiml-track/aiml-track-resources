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44" y="-9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64592" cy="4206240"/>
          </a:xfrm>
          <a:prstGeom prst="rect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32F3E"/>
                </a:solidFill>
              </a:rPr>
              <a:t>Baseline Model and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F6C7A"/>
                </a:solidFill>
              </a:rPr>
              <a:t>Student Performance Prediction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143000"/>
            <a:ext cx="4160520" cy="384048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4A7A"/>
                </a:solidFill>
              </a:rPr>
              <a:t>Day focus</a:t>
            </a:r>
          </a:p>
        </p:txBody>
      </p:sp>
      <p:sp>
        <p:nvSpPr>
          <p:cNvPr id="9" name="Oval 8"/>
          <p:cNvSpPr/>
          <p:nvPr/>
        </p:nvSpPr>
        <p:spPr>
          <a:xfrm>
            <a:off x="7662672" y="1783080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45552" y="17373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Split the data into training and test sets</a:t>
            </a:r>
          </a:p>
        </p:txBody>
      </p:sp>
      <p:sp>
        <p:nvSpPr>
          <p:cNvPr id="11" name="Oval 10"/>
          <p:cNvSpPr/>
          <p:nvPr/>
        </p:nvSpPr>
        <p:spPr>
          <a:xfrm>
            <a:off x="7662672" y="2441448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45552" y="23957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Build a preprocessing pipeline for numeric and categorical inputs</a:t>
            </a:r>
          </a:p>
        </p:txBody>
      </p:sp>
      <p:sp>
        <p:nvSpPr>
          <p:cNvPr id="13" name="Oval 12"/>
          <p:cNvSpPr/>
          <p:nvPr/>
        </p:nvSpPr>
        <p:spPr>
          <a:xfrm>
            <a:off x="7662672" y="3099815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45552" y="3054096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Train a Logistic Regression baseline model</a:t>
            </a:r>
          </a:p>
        </p:txBody>
      </p:sp>
      <p:sp>
        <p:nvSpPr>
          <p:cNvPr id="15" name="Oval 14"/>
          <p:cNvSpPr/>
          <p:nvPr/>
        </p:nvSpPr>
        <p:spPr>
          <a:xfrm>
            <a:off x="7662672" y="3758183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45552" y="3712463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Evaluate the model with accuracy, precision, recall and F1-score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AI &amp; Machine Learning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</a:rPr>
              <a:t>Bile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TABLE OF CONTENTS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0972800" cy="585216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What a baseline model means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50591"/>
            <a:ext cx="10972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42032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Train–test 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63824"/>
            <a:ext cx="10972800" cy="585216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2735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5526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Preprocessing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77056"/>
            <a:ext cx="10972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986784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68496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Logistic Regression baseline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90288"/>
            <a:ext cx="10972800" cy="585216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700016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817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Evaluation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03520"/>
            <a:ext cx="10972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413248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94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232F3E"/>
                </a:solidFill>
              </a:rPr>
              <a:t>Confusion matrix and test predictions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What is a baseline model?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6629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194767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1874519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A baseline model is the first working model we use as a reference point.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606039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2532887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It gives us an initial result before trying more advanced algorithms.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264407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191255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For this project, Logistic Regression is a practical baseline for binary classification.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22775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849623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Later models can be compared against this baseline.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645920"/>
            <a:ext cx="3749039" cy="438912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73568" y="205740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084831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Understand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9872" y="244144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73568" y="288036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907791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Inspect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2" y="326440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973568" y="370332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7307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Prepare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2" y="408736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973568" y="452628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537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Split the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from sklearn.model_selection import train_test_split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32F3E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X_train, X_test, y_train, y_test = train_test_split(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X, y,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test_size=0.20,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random_state=42,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stratify=y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The model learns from X_train and y_train.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We keep X_test and y_test unseen for final evaluation.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stratify=y keeps the class ratio similar in both 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Feature groups for preprocessing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93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35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Numeric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studytime, failures, famrel, health, absences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StandardScaler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Normalize numeric ranges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35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schoolsup, famsup, activities, higher, internet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OneHotEncoder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Convert categories into machine-readable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Build the preprocessing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from sklearn.compose import ColumnTransformer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from sklearn.preprocessing import OneHotEncoder, StandardScaler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32F3E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preprocessor = ColumnTransformer(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transformers=[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("numeric", StandardScaler(), numeric_features),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("categorical", OneHotEncoder(handle_unknown="ignore"), categorical_features)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The ColumnTransformer applies different steps to different feature types.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Numeric values are scaled.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Categorical values are encoded safely for the classifier.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Create the Logistic Regression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from sklearn.pipeline import Pipeline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from sklearn.linear_model import LogisticRegression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32F3E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model = Pipeline(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steps=[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("preprocessor", preprocessor),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("classifier", LogisticRegression(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    max_iter=1000,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    class_weight="balanced",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    random_state=42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The full pipeline keeps preprocessing and modeling together.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class_weight='balanced' helps when the classes are not evenly distributed.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This makes training and later prediction easier to manage.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Training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86000"/>
            <a:ext cx="1920240" cy="105156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32F3E"/>
                </a:solidFill>
              </a:rPr>
              <a:t>Prepared Data</a:t>
            </a:r>
          </a:p>
        </p:txBody>
      </p:sp>
      <p:sp>
        <p:nvSpPr>
          <p:cNvPr id="11" name="Chevron 10"/>
          <p:cNvSpPr/>
          <p:nvPr/>
        </p:nvSpPr>
        <p:spPr>
          <a:xfrm>
            <a:off x="2953512" y="2551176"/>
            <a:ext cx="475488" cy="530352"/>
          </a:xfrm>
          <a:prstGeom prst="chevron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4720" y="2286000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32F3E"/>
                </a:solidFill>
              </a:rPr>
              <a:t>Preprocessing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5559552" y="2551176"/>
            <a:ext cx="475488" cy="530352"/>
          </a:xfrm>
          <a:prstGeom prst="chevron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80760" y="2286000"/>
            <a:ext cx="1920240" cy="105156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32F3E"/>
                </a:solidFill>
              </a:rPr>
              <a:t>Logistic Regression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8165592" y="2551176"/>
            <a:ext cx="475488" cy="530352"/>
          </a:xfrm>
          <a:prstGeom prst="chevron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0" y="2286000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32F3E"/>
                </a:solidFill>
              </a:rPr>
              <a:t>Predictions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F6C7A"/>
                </a:solidFill>
              </a:rPr>
              <a:t>The pipeline transforms the inputs first, then trains the classifier and produces class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Train and evaluate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model.fit(X_train, y_train)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32F3E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y_pred = model.predict(X_test)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fit() trains the baseline model.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predict() gives class predictions for the unseen test data.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The next step is to measure how well those predictions performed.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Main evaluation metrics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it tells us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 we use it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Project meaning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Overall correctness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Quick first view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How often the model is right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How reliable positive predictions 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Important for flagged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Of predicted At Risk students, how many truly are At Risk?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How many true positives were found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Important for support detection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Of all At Risk students, how many did the model catch?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Balance of precision and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More complete than accuracy alone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Useful summary score for the At Risk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749808"/>
            <a:ext cx="27381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1265A8"/>
                </a:solidFill>
              </a:rPr>
              <a:t>Actual</a:t>
            </a:r>
            <a:endParaRPr lang="en-US" sz="2000" b="1" dirty="0">
              <a:solidFill>
                <a:srgbClr val="1265A8"/>
              </a:solidFill>
            </a:endParaRPr>
          </a:p>
          <a:p>
            <a:r>
              <a:rPr lang="en-US" sz="2000" b="1" dirty="0">
                <a:solidFill>
                  <a:srgbClr val="1265A8"/>
                </a:solidFill>
              </a:rPr>
              <a:t>20 → At Risk</a:t>
            </a:r>
          </a:p>
          <a:p>
            <a:r>
              <a:rPr lang="en-US" sz="2000" b="1" dirty="0">
                <a:solidFill>
                  <a:srgbClr val="1265A8"/>
                </a:solidFill>
              </a:rPr>
              <a:t>80 → Not At Risk</a:t>
            </a:r>
            <a:endParaRPr sz="2000" b="1" dirty="0">
              <a:solidFill>
                <a:srgbClr val="1265A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" y="1889166"/>
            <a:ext cx="54579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TP = 16   → At Risk, </a:t>
            </a:r>
            <a:r>
              <a:rPr lang="en-US" sz="2000" b="1" dirty="0" smtClean="0"/>
              <a:t>correct</a:t>
            </a:r>
            <a:endParaRPr lang="en-US" sz="2000" b="1" dirty="0"/>
          </a:p>
          <a:p>
            <a:r>
              <a:rPr lang="en-US" sz="2000" b="1" dirty="0"/>
              <a:t>FN = 4    → At Risk, </a:t>
            </a:r>
            <a:r>
              <a:rPr lang="en-US" sz="2000" b="1" dirty="0" err="1" smtClean="0"/>
              <a:t>incorect</a:t>
            </a:r>
            <a:endParaRPr lang="en-US" sz="2000" b="1" dirty="0"/>
          </a:p>
          <a:p>
            <a:r>
              <a:rPr lang="en-US" sz="2000" b="1" dirty="0"/>
              <a:t>FP = 8    → Not Risk, </a:t>
            </a:r>
            <a:r>
              <a:rPr lang="en-US" sz="2000" b="1" dirty="0" smtClean="0"/>
              <a:t>model (at risk)</a:t>
            </a:r>
            <a:endParaRPr lang="en-US" sz="2000" b="1" dirty="0"/>
          </a:p>
          <a:p>
            <a:r>
              <a:rPr lang="en-US" sz="2000" b="1" dirty="0"/>
              <a:t>TN = 72   → Not Risk, </a:t>
            </a:r>
            <a:r>
              <a:rPr lang="en-US" sz="2000" b="1" dirty="0" smtClean="0"/>
              <a:t>correct</a:t>
            </a:r>
            <a:endParaRPr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724400" y="749808"/>
            <a:ext cx="70439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Accuracy: General (16 + 72 = </a:t>
            </a:r>
            <a:r>
              <a:rPr lang="en-US" sz="2400" dirty="0" smtClean="0"/>
              <a:t>88)</a:t>
            </a:r>
          </a:p>
          <a:p>
            <a:r>
              <a:rPr lang="en-US" sz="2400" dirty="0"/>
              <a:t>Precision — </a:t>
            </a:r>
            <a:r>
              <a:rPr lang="en-US" sz="2400" dirty="0" err="1"/>
              <a:t>Kuwa</a:t>
            </a:r>
            <a:r>
              <a:rPr lang="en-US" sz="2400" dirty="0"/>
              <a:t> model-</a:t>
            </a:r>
            <a:r>
              <a:rPr lang="en-US" sz="2400" dirty="0" err="1"/>
              <a:t>ku</a:t>
            </a:r>
            <a:r>
              <a:rPr lang="en-US" sz="2400" dirty="0"/>
              <a:t> At Risk </a:t>
            </a:r>
            <a:r>
              <a:rPr lang="en-US" sz="2400" dirty="0" err="1"/>
              <a:t>yiri</a:t>
            </a:r>
            <a:r>
              <a:rPr lang="en-US" sz="2400" dirty="0"/>
              <a:t>, </a:t>
            </a:r>
            <a:r>
              <a:rPr lang="en-US" sz="2400" dirty="0" err="1"/>
              <a:t>intee</a:t>
            </a:r>
            <a:r>
              <a:rPr lang="en-US" sz="2400" dirty="0"/>
              <a:t> </a:t>
            </a:r>
            <a:r>
              <a:rPr lang="en-US" sz="2400" dirty="0" err="1"/>
              <a:t>dhab</a:t>
            </a:r>
            <a:r>
              <a:rPr lang="en-US" sz="2400" dirty="0"/>
              <a:t> </a:t>
            </a:r>
            <a:r>
              <a:rPr lang="en-US" sz="2400" dirty="0" err="1"/>
              <a:t>ahaan</a:t>
            </a:r>
            <a:r>
              <a:rPr lang="en-US" sz="2400" dirty="0"/>
              <a:t> At Risk </a:t>
            </a:r>
            <a:r>
              <a:rPr lang="en-US" sz="2400" dirty="0" err="1"/>
              <a:t>ahaa</a:t>
            </a:r>
            <a:r>
              <a:rPr lang="en-US" sz="2400" dirty="0"/>
              <a:t>? (16 / 24 = 67</a:t>
            </a:r>
            <a:r>
              <a:rPr lang="en-US" sz="2400" dirty="0" smtClean="0"/>
              <a:t>%)</a:t>
            </a:r>
          </a:p>
          <a:p>
            <a:endParaRPr lang="en-US" sz="2400" dirty="0"/>
          </a:p>
          <a:p>
            <a:r>
              <a:rPr lang="en-US" sz="2400" b="1" dirty="0"/>
              <a:t>Recall — At Risk-</a:t>
            </a:r>
            <a:r>
              <a:rPr lang="en-US" sz="2400" b="1" dirty="0" err="1"/>
              <a:t>kii</a:t>
            </a:r>
            <a:r>
              <a:rPr lang="en-US" sz="2400" b="1" dirty="0"/>
              <a:t> </a:t>
            </a:r>
            <a:r>
              <a:rPr lang="en-US" sz="2400" b="1" dirty="0" err="1"/>
              <a:t>dhabta</a:t>
            </a:r>
            <a:r>
              <a:rPr lang="en-US" sz="2400" b="1" dirty="0"/>
              <a:t> </a:t>
            </a:r>
            <a:r>
              <a:rPr lang="en-US" sz="2400" b="1" dirty="0" err="1"/>
              <a:t>ahaa</a:t>
            </a:r>
            <a:r>
              <a:rPr lang="en-US" sz="2400" b="1" dirty="0"/>
              <a:t> </a:t>
            </a:r>
            <a:r>
              <a:rPr lang="en-US" sz="2400" b="1" dirty="0" err="1"/>
              <a:t>intee</a:t>
            </a:r>
            <a:r>
              <a:rPr lang="en-US" sz="2400" b="1" dirty="0"/>
              <a:t> </a:t>
            </a:r>
            <a:r>
              <a:rPr lang="en-US" sz="2400" b="1" dirty="0" err="1"/>
              <a:t>ayuu</a:t>
            </a:r>
            <a:r>
              <a:rPr lang="en-US" sz="2400" b="1" dirty="0"/>
              <a:t> </a:t>
            </a:r>
            <a:r>
              <a:rPr lang="en-US" sz="2400" b="1" dirty="0" err="1"/>
              <a:t>qabtay</a:t>
            </a:r>
            <a:r>
              <a:rPr lang="en-US" sz="2400" b="1" dirty="0" smtClean="0"/>
              <a:t>? (</a:t>
            </a:r>
            <a:r>
              <a:rPr lang="en-US" sz="2400" dirty="0"/>
              <a:t>16 / 20 = 80</a:t>
            </a:r>
            <a:r>
              <a:rPr lang="en-US" sz="2400" dirty="0" smtClean="0"/>
              <a:t>%)</a:t>
            </a:r>
          </a:p>
          <a:p>
            <a:endParaRPr lang="en-US" sz="2400" b="1" dirty="0"/>
          </a:p>
          <a:p>
            <a:r>
              <a:rPr lang="en-US" sz="2400" dirty="0"/>
              <a:t>F1-score — Precision + Recall </a:t>
            </a:r>
            <a:r>
              <a:rPr lang="en-US" sz="2400" dirty="0" smtClean="0"/>
              <a:t>balance</a:t>
            </a:r>
          </a:p>
          <a:p>
            <a:r>
              <a:rPr lang="en-US" sz="2400" dirty="0" smtClean="0"/>
              <a:t>F1 </a:t>
            </a:r>
            <a:r>
              <a:rPr lang="en-US" sz="2400" dirty="0"/>
              <a:t>≈ 73%</a:t>
            </a:r>
            <a:endParaRPr lang="en-US" sz="2400" b="1" dirty="0"/>
          </a:p>
          <a:p>
            <a:endParaRPr lang="en-US" sz="2400" dirty="0" smtClean="0"/>
          </a:p>
          <a:p>
            <a:endParaRPr lang="en-US" sz="2400" dirty="0"/>
          </a:p>
          <a:p>
            <a:endParaRPr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11479" y="4778710"/>
            <a:ext cx="105805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smtClean="0"/>
              <a:t>F1 = 2x(Precision </a:t>
            </a:r>
            <a:r>
              <a:rPr lang="en-US" sz="4000" b="1" dirty="0"/>
              <a:t>x</a:t>
            </a:r>
            <a:r>
              <a:rPr lang="en-US" sz="4000" b="1" dirty="0" smtClean="0"/>
              <a:t> Recall) / (Precision + Recall) </a:t>
            </a:r>
            <a:endParaRPr sz="4000" b="1" dirty="0"/>
          </a:p>
        </p:txBody>
      </p:sp>
    </p:spTree>
    <p:extLst>
      <p:ext uri="{BB962C8B-B14F-4D97-AF65-F5344CB8AC3E}">
        <p14:creationId xmlns:p14="http://schemas.microsoft.com/office/powerpoint/2010/main" val="122318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CONFUSION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Reading the confusion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6629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194767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1874519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True Negative: correctly predicted Not At Risk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606039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2532887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True Positive: correctly predicted At Risk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264407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191255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False Positive: predicted At Risk, but the student was not at risk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22775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849623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False Negative: missed an At Risk student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645920"/>
            <a:ext cx="3749039" cy="438912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73568" y="205740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084831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Understand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9872" y="244144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73568" y="288036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907791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Inspect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2" y="326440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973568" y="370332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7307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Prepare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2" y="408736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973568" y="452628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537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5394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F6C7A"/>
                </a:solidFill>
              </a:rPr>
              <a:t>In an early-risk project, recall is especially important because missing an at-risk student can be costly.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TEST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Show sample test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test_results = X_test.head(10).copy()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test_results["actual"] = y_test.head(10).map({0: "Not At Risk", 1: "At Risk"}).values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test_results["predicted"] = model.predict(X_test.head(10))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test_results["predicted"] = test_results["predicted"].map({0: "Not At Risk", 1: "At Risk"})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Sample predictions make the results easier to explain.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We can compare actual and predicted classes side by side.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This also prepares us for the application stage.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64922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99339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2F3E"/>
                </a:solidFill>
              </a:rPr>
              <a:t>Key Takeaways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25420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468880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We built a full baseline classification pipeline.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3200400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3127248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The pipeline handles preprocessing and Logistic Regression in one place.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3858768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3785615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Evaluation is more than accuracy; precision, recall and F1-score matter too.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4517136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4443983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The trained model is now ready to be saved and used in an application.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965960"/>
            <a:ext cx="3611880" cy="265176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2331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4A7A"/>
                </a:solidFill>
              </a:rP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6974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F3E"/>
                </a:solidFill>
              </a:rPr>
              <a:t>Day 04 — Save the model, make predictions and expose it through a simple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1098</Words>
  <Application>Microsoft Office PowerPoint</Application>
  <PresentationFormat>Widescreen</PresentationFormat>
  <Paragraphs>221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Mohamett Farhan</cp:lastModifiedBy>
  <cp:revision>4</cp:revision>
  <dcterms:created xsi:type="dcterms:W3CDTF">2013-01-27T09:14:16Z</dcterms:created>
  <dcterms:modified xsi:type="dcterms:W3CDTF">2026-08-24T16:13:37Z</dcterms:modified>
  <cp:category/>
</cp:coreProperties>
</file>