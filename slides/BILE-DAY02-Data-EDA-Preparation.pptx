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143000"/>
            <a:ext cx="164592" cy="4206240"/>
          </a:xfrm>
          <a:prstGeom prst="rect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00584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265A8"/>
                </a:solidFill>
              </a:rPr>
              <a:t>DAY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6217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32F3E"/>
                </a:solidFill>
              </a:rPr>
              <a:t>Data, EDA and Preparation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514600"/>
            <a:ext cx="5852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F6C7A"/>
                </a:solidFill>
              </a:rPr>
              <a:t>Student Performance Prediction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143000"/>
            <a:ext cx="4160520" cy="3840480"/>
          </a:xfrm>
          <a:prstGeom prst="roundRect">
            <a:avLst/>
          </a:prstGeom>
          <a:solidFill>
            <a:srgbClr val="E8F3FB"/>
          </a:solidFill>
          <a:ln>
            <a:solidFill>
              <a:srgbClr val="D4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35240" y="14173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B4A7A"/>
                </a:solidFill>
              </a:rPr>
              <a:t>Day focus</a:t>
            </a:r>
          </a:p>
        </p:txBody>
      </p:sp>
      <p:sp>
        <p:nvSpPr>
          <p:cNvPr id="9" name="Oval 8"/>
          <p:cNvSpPr/>
          <p:nvPr/>
        </p:nvSpPr>
        <p:spPr>
          <a:xfrm>
            <a:off x="7662672" y="1783080"/>
            <a:ext cx="109728" cy="109728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45552" y="1737360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32F3E"/>
                </a:solidFill>
              </a:rPr>
              <a:t>Load the project dataset and inspect the structure</a:t>
            </a:r>
          </a:p>
        </p:txBody>
      </p:sp>
      <p:sp>
        <p:nvSpPr>
          <p:cNvPr id="11" name="Oval 10"/>
          <p:cNvSpPr/>
          <p:nvPr/>
        </p:nvSpPr>
        <p:spPr>
          <a:xfrm>
            <a:off x="7662672" y="2441448"/>
            <a:ext cx="109728" cy="109728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45552" y="2395728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32F3E"/>
                </a:solidFill>
              </a:rPr>
              <a:t>Check data quality, duplicates and class balance</a:t>
            </a:r>
          </a:p>
        </p:txBody>
      </p:sp>
      <p:sp>
        <p:nvSpPr>
          <p:cNvPr id="13" name="Oval 12"/>
          <p:cNvSpPr/>
          <p:nvPr/>
        </p:nvSpPr>
        <p:spPr>
          <a:xfrm>
            <a:off x="7662672" y="3099815"/>
            <a:ext cx="109728" cy="109728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45552" y="3054096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32F3E"/>
                </a:solidFill>
              </a:rPr>
              <a:t>Create the target and prepare model-ready data</a:t>
            </a:r>
          </a:p>
        </p:txBody>
      </p:sp>
      <p:sp>
        <p:nvSpPr>
          <p:cNvPr id="15" name="Oval 14"/>
          <p:cNvSpPr/>
          <p:nvPr/>
        </p:nvSpPr>
        <p:spPr>
          <a:xfrm>
            <a:off x="7662672" y="3758183"/>
            <a:ext cx="109728" cy="109728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3712463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32F3E"/>
                </a:solidFill>
              </a:rPr>
              <a:t>Choose the input features for the first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07492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4A7A"/>
                </a:solidFill>
              </a:rPr>
              <a:t>AI &amp; Machine Learning Track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34924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F6C7A"/>
                </a:solidFill>
              </a:rPr>
              <a:t>Bile Initiative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1265A8"/>
                </a:solidFill>
              </a:rPr>
              <a:t>BILE Initiative · AI &amp; Machine Learning Track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32720" y="137160"/>
            <a:ext cx="1417320" cy="329184"/>
          </a:xfrm>
          <a:prstGeom prst="roundRect">
            <a:avLst/>
          </a:prstGeom>
          <a:solidFill>
            <a:srgbClr val="E8F3FB"/>
          </a:solidFill>
          <a:ln>
            <a:solidFill>
              <a:srgbClr val="E8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265A8"/>
                </a:solidFill>
              </a:rPr>
              <a:t>DAY 02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530352"/>
            <a:ext cx="11384280" cy="13716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6455664"/>
            <a:ext cx="11384280" cy="13716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83096"/>
            <a:ext cx="4114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F6C7A"/>
                </a:solidFill>
              </a:rPr>
              <a:t>AI &amp; Machine Learning Track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960120"/>
            <a:ext cx="7132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32F3E"/>
                </a:solidFill>
              </a:rPr>
              <a:t>TABLE OF CONTENTS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37360"/>
            <a:ext cx="10972800" cy="585216"/>
          </a:xfrm>
          <a:prstGeom prst="roundRect">
            <a:avLst/>
          </a:prstGeom>
          <a:solidFill>
            <a:srgbClr val="E8F3FB"/>
          </a:solidFill>
          <a:ln>
            <a:solidFill>
              <a:srgbClr val="D4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47088"/>
            <a:ext cx="411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265A8"/>
                </a:solidFill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82880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32F3E"/>
                </a:solidFill>
              </a:rPr>
              <a:t>Dataset loading and quick review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450591"/>
            <a:ext cx="10972800" cy="585216"/>
          </a:xfrm>
          <a:prstGeom prst="roundRect">
            <a:avLst/>
          </a:prstGeom>
          <a:solidFill>
            <a:srgbClr val="FFFFFF"/>
          </a:solidFill>
          <a:ln>
            <a:solidFill>
              <a:srgbClr val="D4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560320"/>
            <a:ext cx="411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265A8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542032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32F3E"/>
                </a:solidFill>
              </a:rPr>
              <a:t>EDA goals for this project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163824"/>
            <a:ext cx="10972800" cy="585216"/>
          </a:xfrm>
          <a:prstGeom prst="roundRect">
            <a:avLst/>
          </a:prstGeom>
          <a:solidFill>
            <a:srgbClr val="E8F3FB"/>
          </a:solidFill>
          <a:ln>
            <a:solidFill>
              <a:srgbClr val="D4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273552"/>
            <a:ext cx="411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265A8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255264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32F3E"/>
                </a:solidFill>
              </a:rPr>
              <a:t>Data quality checks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877056"/>
            <a:ext cx="10972800" cy="585216"/>
          </a:xfrm>
          <a:prstGeom prst="roundRect">
            <a:avLst/>
          </a:prstGeom>
          <a:solidFill>
            <a:srgbClr val="FFFFFF"/>
          </a:solidFill>
          <a:ln>
            <a:solidFill>
              <a:srgbClr val="D4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986784"/>
            <a:ext cx="411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265A8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968496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32F3E"/>
                </a:solidFill>
              </a:rPr>
              <a:t>Create the prediction target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590288"/>
            <a:ext cx="10972800" cy="585216"/>
          </a:xfrm>
          <a:prstGeom prst="roundRect">
            <a:avLst/>
          </a:prstGeom>
          <a:solidFill>
            <a:srgbClr val="E8F3FB"/>
          </a:solidFill>
          <a:ln>
            <a:solidFill>
              <a:srgbClr val="D4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700016"/>
            <a:ext cx="411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265A8"/>
                </a:solidFill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681728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32F3E"/>
                </a:solidFill>
              </a:rPr>
              <a:t>Select the 10 input features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303520"/>
            <a:ext cx="10972800" cy="585216"/>
          </a:xfrm>
          <a:prstGeom prst="roundRect">
            <a:avLst/>
          </a:prstGeom>
          <a:solidFill>
            <a:srgbClr val="FFFFFF"/>
          </a:solidFill>
          <a:ln>
            <a:solidFill>
              <a:srgbClr val="D4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413248"/>
            <a:ext cx="411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265A8"/>
                </a:solidFill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53949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32F3E"/>
                </a:solidFill>
              </a:rPr>
              <a:t>Prepare X, y and save model-ready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1265A8"/>
                </a:solidFill>
              </a:rPr>
              <a:t>BILE Initiative · AI &amp; Machine Learning Track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32720" y="137160"/>
            <a:ext cx="1417320" cy="329184"/>
          </a:xfrm>
          <a:prstGeom prst="roundRect">
            <a:avLst/>
          </a:prstGeom>
          <a:solidFill>
            <a:srgbClr val="E8F3FB"/>
          </a:solidFill>
          <a:ln>
            <a:solidFill>
              <a:srgbClr val="E8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265A8"/>
                </a:solidFill>
              </a:rPr>
              <a:t>DAY 02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530352"/>
            <a:ext cx="11384280" cy="13716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6455664"/>
            <a:ext cx="11384280" cy="13716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83096"/>
            <a:ext cx="4114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F6C7A"/>
                </a:solidFill>
              </a:rPr>
              <a:t>AI &amp; Machine Learning Track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749808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65A8"/>
                </a:solidFill>
              </a:rPr>
              <a:t>EDA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960120"/>
            <a:ext cx="7132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32F3E"/>
                </a:solidFill>
              </a:rPr>
              <a:t>Why this day matters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645920"/>
            <a:ext cx="66294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4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1947672"/>
            <a:ext cx="100584" cy="1005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1874519"/>
            <a:ext cx="5806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32F3E"/>
                </a:solidFill>
              </a:rPr>
              <a:t>This is the bridge between raw data and machine learning.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2606039"/>
            <a:ext cx="100584" cy="1005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2532887"/>
            <a:ext cx="5806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32F3E"/>
                </a:solidFill>
              </a:rPr>
              <a:t>We make the dataset understandable before asking a model to learn from it.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3264407"/>
            <a:ext cx="100584" cy="1005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3191255"/>
            <a:ext cx="5806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32F3E"/>
                </a:solidFill>
              </a:rPr>
              <a:t>The practical work today prepares the exact data used in the baseline model.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3922775"/>
            <a:ext cx="100584" cy="1005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3849623"/>
            <a:ext cx="5806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32F3E"/>
                </a:solidFill>
              </a:rPr>
              <a:t>By the end of the day, we have clean inputs and a clear target.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0" y="1645920"/>
            <a:ext cx="3749039" cy="4389120"/>
          </a:xfrm>
          <a:prstGeom prst="roundRect">
            <a:avLst/>
          </a:prstGeom>
          <a:solidFill>
            <a:srgbClr val="E8F3FB"/>
          </a:solidFill>
          <a:ln>
            <a:solidFill>
              <a:srgbClr val="D4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973568" y="2057400"/>
            <a:ext cx="329184" cy="3291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2084831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4A7A"/>
                </a:solidFill>
              </a:rPr>
              <a:t>Understand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19872" y="2441448"/>
            <a:ext cx="36576" cy="329184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73568" y="2880360"/>
            <a:ext cx="329184" cy="3291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2907791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4A7A"/>
                </a:solidFill>
              </a:rPr>
              <a:t>Inspect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19872" y="3264408"/>
            <a:ext cx="36576" cy="329184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73568" y="3703320"/>
            <a:ext cx="329184" cy="3291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373075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4A7A"/>
                </a:solidFill>
              </a:rPr>
              <a:t>Prepare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19872" y="4087368"/>
            <a:ext cx="36576" cy="329184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973568" y="4526280"/>
            <a:ext cx="329184" cy="3291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455371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B4A7A"/>
                </a:solidFill>
              </a:rPr>
              <a:t>Use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1265A8"/>
                </a:solidFill>
              </a:rPr>
              <a:t>BILE Initiative · AI &amp; Machine Learning Track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32720" y="137160"/>
            <a:ext cx="1417320" cy="329184"/>
          </a:xfrm>
          <a:prstGeom prst="roundRect">
            <a:avLst/>
          </a:prstGeom>
          <a:solidFill>
            <a:srgbClr val="E8F3FB"/>
          </a:solidFill>
          <a:ln>
            <a:solidFill>
              <a:srgbClr val="E8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265A8"/>
                </a:solidFill>
              </a:rPr>
              <a:t>DAY 02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530352"/>
            <a:ext cx="11384280" cy="13716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6455664"/>
            <a:ext cx="11384280" cy="13716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83096"/>
            <a:ext cx="4114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F6C7A"/>
                </a:solidFill>
              </a:rPr>
              <a:t>AI &amp; Machine Learning Track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749808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65A8"/>
                </a:solidFill>
              </a:rPr>
              <a:t>DATASET START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960120"/>
            <a:ext cx="7132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32F3E"/>
                </a:solidFill>
              </a:rPr>
              <a:t>Open and review the dataset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691640"/>
            <a:ext cx="6400800" cy="4480560"/>
          </a:xfrm>
          <a:prstGeom prst="roundRect">
            <a:avLst/>
          </a:prstGeom>
          <a:solidFill>
            <a:srgbClr val="F7FAFC"/>
          </a:solidFill>
          <a:ln>
            <a:solidFill>
              <a:srgbClr val="D4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01952"/>
            <a:ext cx="5989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>import pandas as pd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>df = pd.read_csv("/content/student-por.csv", sep=";")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>df.head()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>df.shape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>df.info()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1691640"/>
            <a:ext cx="38862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4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26679" y="1993392"/>
            <a:ext cx="100584" cy="1005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79" y="192024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232F3E"/>
                </a:solidFill>
              </a:rPr>
              <a:t>student-por.csv is the project dataset used in Colab.</a:t>
            </a:r>
          </a:p>
        </p:txBody>
      </p:sp>
      <p:sp>
        <p:nvSpPr>
          <p:cNvPr id="15" name="Oval 14"/>
          <p:cNvSpPr/>
          <p:nvPr/>
        </p:nvSpPr>
        <p:spPr>
          <a:xfrm>
            <a:off x="7726679" y="2724912"/>
            <a:ext cx="100584" cy="1005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79" y="265176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232F3E"/>
                </a:solidFill>
              </a:rPr>
              <a:t>The separator is a semicolon, so we load it with sep=';'.</a:t>
            </a:r>
          </a:p>
        </p:txBody>
      </p:sp>
      <p:sp>
        <p:nvSpPr>
          <p:cNvPr id="17" name="Oval 16"/>
          <p:cNvSpPr/>
          <p:nvPr/>
        </p:nvSpPr>
        <p:spPr>
          <a:xfrm>
            <a:off x="7726679" y="3456432"/>
            <a:ext cx="100584" cy="1005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79" y="338328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232F3E"/>
                </a:solidFill>
              </a:rPr>
              <a:t>head(), shape and info() help us understand the raw structure.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1265A8"/>
                </a:solidFill>
              </a:rPr>
              <a:t>BILE Initiative · AI &amp; Machine Learning Track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32720" y="137160"/>
            <a:ext cx="1417320" cy="329184"/>
          </a:xfrm>
          <a:prstGeom prst="roundRect">
            <a:avLst/>
          </a:prstGeom>
          <a:solidFill>
            <a:srgbClr val="E8F3FB"/>
          </a:solidFill>
          <a:ln>
            <a:solidFill>
              <a:srgbClr val="E8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265A8"/>
                </a:solidFill>
              </a:rPr>
              <a:t>DAY 02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530352"/>
            <a:ext cx="11384280" cy="13716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6455664"/>
            <a:ext cx="11384280" cy="13716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83096"/>
            <a:ext cx="4114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F6C7A"/>
                </a:solidFill>
              </a:rPr>
              <a:t>AI &amp; Machine Learning Track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749808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65A8"/>
                </a:solidFill>
              </a:rPr>
              <a:t>EDA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960120"/>
            <a:ext cx="7132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32F3E"/>
                </a:solidFill>
              </a:rPr>
              <a:t>What we focus on in EDA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1737360"/>
          <a:ext cx="1088136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926080"/>
                <a:gridCol w="2286000"/>
                <a:gridCol w="3566160"/>
              </a:tblGrid>
              <a:tr h="8961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Area</a:t>
                      </a:r>
                    </a:p>
                  </a:txBody>
                  <a:tcPr>
                    <a:solidFill>
                      <a:srgbClr val="1265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What we check</a:t>
                      </a:r>
                    </a:p>
                  </a:txBody>
                  <a:tcPr>
                    <a:solidFill>
                      <a:srgbClr val="1265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Why it matters</a:t>
                      </a:r>
                    </a:p>
                  </a:txBody>
                  <a:tcPr>
                    <a:solidFill>
                      <a:srgbClr val="1265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Project link</a:t>
                      </a:r>
                    </a:p>
                  </a:txBody>
                  <a:tcPr>
                    <a:solidFill>
                      <a:srgbClr val="1265A8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Structure</a:t>
                      </a:r>
                    </a:p>
                  </a:txBody>
                  <a:tcPr>
                    <a:solidFill>
                      <a:srgbClr val="E8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Rows, columns, types</a:t>
                      </a:r>
                    </a:p>
                  </a:txBody>
                  <a:tcPr>
                    <a:solidFill>
                      <a:srgbClr val="E8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Know what we are working with</a:t>
                      </a:r>
                    </a:p>
                  </a:txBody>
                  <a:tcPr>
                    <a:solidFill>
                      <a:srgbClr val="E8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Supports notebook inspection</a:t>
                      </a:r>
                    </a:p>
                  </a:txBody>
                  <a:tcPr>
                    <a:solidFill>
                      <a:srgbClr val="E8F3FB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Quality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Missing values, duplicates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Avoid unreliable training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Day 2 cleaning step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E8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G3 based pass/fail label</a:t>
                      </a:r>
                    </a:p>
                  </a:txBody>
                  <a:tcPr>
                    <a:solidFill>
                      <a:srgbClr val="E8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Defines what we predict</a:t>
                      </a:r>
                    </a:p>
                  </a:txBody>
                  <a:tcPr>
                    <a:solidFill>
                      <a:srgbClr val="E8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Needed for classification</a:t>
                      </a:r>
                    </a:p>
                  </a:txBody>
                  <a:tcPr>
                    <a:solidFill>
                      <a:srgbClr val="E8F3FB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Features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Useful student attributes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Controls model inputs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Used in Day 3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1265A8"/>
                </a:solidFill>
              </a:rPr>
              <a:t>BILE Initiative · AI &amp; Machine Learning Track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32720" y="137160"/>
            <a:ext cx="1417320" cy="329184"/>
          </a:xfrm>
          <a:prstGeom prst="roundRect">
            <a:avLst/>
          </a:prstGeom>
          <a:solidFill>
            <a:srgbClr val="E8F3FB"/>
          </a:solidFill>
          <a:ln>
            <a:solidFill>
              <a:srgbClr val="E8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265A8"/>
                </a:solidFill>
              </a:rPr>
              <a:t>DAY 02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530352"/>
            <a:ext cx="11384280" cy="13716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6455664"/>
            <a:ext cx="11384280" cy="13716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83096"/>
            <a:ext cx="4114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F6C7A"/>
                </a:solidFill>
              </a:rPr>
              <a:t>AI &amp; Machine Learning Track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749808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65A8"/>
                </a:solidFill>
              </a:rPr>
              <a:t>DATA QUALITY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960120"/>
            <a:ext cx="7132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32F3E"/>
                </a:solidFill>
              </a:rPr>
              <a:t>Check data quality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691640"/>
            <a:ext cx="6400800" cy="4480560"/>
          </a:xfrm>
          <a:prstGeom prst="roundRect">
            <a:avLst/>
          </a:prstGeom>
          <a:solidFill>
            <a:srgbClr val="F7FAFC"/>
          </a:solidFill>
          <a:ln>
            <a:solidFill>
              <a:srgbClr val="D4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01952"/>
            <a:ext cx="5989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>df.isnull().sum().sort_values(ascending=False).head(10)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>df.duplicated().sum()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>df = df.drop_duplicates().copy()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1691640"/>
            <a:ext cx="38862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4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26679" y="1993392"/>
            <a:ext cx="100584" cy="1005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79" y="192024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232F3E"/>
                </a:solidFill>
              </a:rPr>
              <a:t>We first check whether important columns have missing values.</a:t>
            </a:r>
          </a:p>
        </p:txBody>
      </p:sp>
      <p:sp>
        <p:nvSpPr>
          <p:cNvPr id="15" name="Oval 14"/>
          <p:cNvSpPr/>
          <p:nvPr/>
        </p:nvSpPr>
        <p:spPr>
          <a:xfrm>
            <a:off x="7726679" y="2724912"/>
            <a:ext cx="100584" cy="1005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79" y="265176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232F3E"/>
                </a:solidFill>
              </a:rPr>
              <a:t>We count duplicate rows, then remove them before modeling.</a:t>
            </a:r>
          </a:p>
        </p:txBody>
      </p:sp>
      <p:sp>
        <p:nvSpPr>
          <p:cNvPr id="17" name="Oval 16"/>
          <p:cNvSpPr/>
          <p:nvPr/>
        </p:nvSpPr>
        <p:spPr>
          <a:xfrm>
            <a:off x="7726679" y="3456432"/>
            <a:ext cx="100584" cy="1005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79" y="338328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232F3E"/>
                </a:solidFill>
              </a:rPr>
              <a:t>This keeps the training data cleaner and more consistent.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1265A8"/>
                </a:solidFill>
              </a:rPr>
              <a:t>BILE Initiative · AI &amp; Machine Learning Track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32720" y="137160"/>
            <a:ext cx="1417320" cy="329184"/>
          </a:xfrm>
          <a:prstGeom prst="roundRect">
            <a:avLst/>
          </a:prstGeom>
          <a:solidFill>
            <a:srgbClr val="E8F3FB"/>
          </a:solidFill>
          <a:ln>
            <a:solidFill>
              <a:srgbClr val="E8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265A8"/>
                </a:solidFill>
              </a:rPr>
              <a:t>DAY 02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530352"/>
            <a:ext cx="11384280" cy="13716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6455664"/>
            <a:ext cx="11384280" cy="13716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83096"/>
            <a:ext cx="4114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F6C7A"/>
                </a:solidFill>
              </a:rPr>
              <a:t>AI &amp; Machine Learning Track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749808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65A8"/>
                </a:solidFill>
              </a:rPr>
              <a:t>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960120"/>
            <a:ext cx="7132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32F3E"/>
                </a:solidFill>
              </a:rPr>
              <a:t>Create the target label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286000"/>
            <a:ext cx="1920240" cy="1051560"/>
          </a:xfrm>
          <a:prstGeom prst="roundRect">
            <a:avLst/>
          </a:prstGeom>
          <a:solidFill>
            <a:srgbClr val="E8F3FB"/>
          </a:solidFill>
          <a:ln>
            <a:solidFill>
              <a:srgbClr val="D4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32F3E"/>
                </a:solidFill>
              </a:rPr>
              <a:t>G3</a:t>
            </a:r>
          </a:p>
        </p:txBody>
      </p:sp>
      <p:sp>
        <p:nvSpPr>
          <p:cNvPr id="11" name="Chevron 10"/>
          <p:cNvSpPr/>
          <p:nvPr/>
        </p:nvSpPr>
        <p:spPr>
          <a:xfrm>
            <a:off x="2953512" y="2551176"/>
            <a:ext cx="475488" cy="530352"/>
          </a:xfrm>
          <a:prstGeom prst="chevron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74720" y="2286000"/>
            <a:ext cx="19202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4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32F3E"/>
                </a:solidFill>
              </a:rPr>
              <a:t>Rule</a:t>
            </a:r>
          </a:p>
        </p:txBody>
      </p:sp>
      <p:sp>
        <p:nvSpPr>
          <p:cNvPr id="13" name="Chevron 12"/>
          <p:cNvSpPr/>
          <p:nvPr/>
        </p:nvSpPr>
        <p:spPr>
          <a:xfrm>
            <a:off x="5559552" y="2551176"/>
            <a:ext cx="475488" cy="530352"/>
          </a:xfrm>
          <a:prstGeom prst="chevron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80760" y="2286000"/>
            <a:ext cx="1920240" cy="1051560"/>
          </a:xfrm>
          <a:prstGeom prst="roundRect">
            <a:avLst/>
          </a:prstGeom>
          <a:solidFill>
            <a:srgbClr val="E8F3FB"/>
          </a:solidFill>
          <a:ln>
            <a:solidFill>
              <a:srgbClr val="D4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32F3E"/>
                </a:solidFill>
              </a:rPr>
              <a:t>at_risk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51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5F6C7A"/>
                </a:solidFill>
              </a:rPr>
              <a:t>We convert the historical final grade into a binary target: G3 &lt; 10 → At Risk, G3 ≥ 10 → Not At Risk.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1265A8"/>
                </a:solidFill>
              </a:rPr>
              <a:t>BILE Initiative · AI &amp; Machine Learning Track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32720" y="137160"/>
            <a:ext cx="1417320" cy="329184"/>
          </a:xfrm>
          <a:prstGeom prst="roundRect">
            <a:avLst/>
          </a:prstGeom>
          <a:solidFill>
            <a:srgbClr val="E8F3FB"/>
          </a:solidFill>
          <a:ln>
            <a:solidFill>
              <a:srgbClr val="E8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265A8"/>
                </a:solidFill>
              </a:rPr>
              <a:t>DAY 02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530352"/>
            <a:ext cx="11384280" cy="13716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6455664"/>
            <a:ext cx="11384280" cy="13716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83096"/>
            <a:ext cx="4114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F6C7A"/>
                </a:solidFill>
              </a:rPr>
              <a:t>AI &amp; Machine Learning Track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749808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65A8"/>
                </a:solidFill>
              </a:rPr>
              <a:t>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960120"/>
            <a:ext cx="7132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32F3E"/>
                </a:solidFill>
              </a:rPr>
              <a:t>Target creation in the notebook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691640"/>
            <a:ext cx="6400800" cy="4480560"/>
          </a:xfrm>
          <a:prstGeom prst="roundRect">
            <a:avLst/>
          </a:prstGeom>
          <a:solidFill>
            <a:srgbClr val="F7FAFC"/>
          </a:solidFill>
          <a:ln>
            <a:solidFill>
              <a:srgbClr val="D4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01952"/>
            <a:ext cx="5989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>df["at_risk"] = (df["G3"] &lt; 10).astype(int)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>class_counts = df["at_risk"].value_counts().sort_index()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>class_counts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1691640"/>
            <a:ext cx="38862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4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26679" y="1993392"/>
            <a:ext cx="100584" cy="1005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79" y="192024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232F3E"/>
                </a:solidFill>
              </a:rPr>
              <a:t>0 = Not At Risk</a:t>
            </a:r>
          </a:p>
        </p:txBody>
      </p:sp>
      <p:sp>
        <p:nvSpPr>
          <p:cNvPr id="15" name="Oval 14"/>
          <p:cNvSpPr/>
          <p:nvPr/>
        </p:nvSpPr>
        <p:spPr>
          <a:xfrm>
            <a:off x="7726679" y="2724912"/>
            <a:ext cx="100584" cy="1005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79" y="265176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232F3E"/>
                </a:solidFill>
              </a:rPr>
              <a:t>1 = At Risk</a:t>
            </a:r>
          </a:p>
        </p:txBody>
      </p:sp>
      <p:sp>
        <p:nvSpPr>
          <p:cNvPr id="17" name="Oval 16"/>
          <p:cNvSpPr/>
          <p:nvPr/>
        </p:nvSpPr>
        <p:spPr>
          <a:xfrm>
            <a:off x="7726679" y="3456432"/>
            <a:ext cx="100584" cy="1005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79" y="338328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232F3E"/>
                </a:solidFill>
              </a:rPr>
              <a:t>The class counts help us see whether the dataset is balanced.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1265A8"/>
                </a:solidFill>
              </a:rPr>
              <a:t>BILE Initiative · AI &amp; Machine Learning Track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32720" y="137160"/>
            <a:ext cx="1417320" cy="329184"/>
          </a:xfrm>
          <a:prstGeom prst="roundRect">
            <a:avLst/>
          </a:prstGeom>
          <a:solidFill>
            <a:srgbClr val="E8F3FB"/>
          </a:solidFill>
          <a:ln>
            <a:solidFill>
              <a:srgbClr val="E8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265A8"/>
                </a:solidFill>
              </a:rPr>
              <a:t>DAY 02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530352"/>
            <a:ext cx="11384280" cy="13716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6455664"/>
            <a:ext cx="11384280" cy="13716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83096"/>
            <a:ext cx="4114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F6C7A"/>
                </a:solidFill>
              </a:rPr>
              <a:t>AI &amp; Machine Learning Track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749808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65A8"/>
                </a:solidFill>
              </a:rPr>
              <a:t>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960120"/>
            <a:ext cx="7132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32F3E"/>
                </a:solidFill>
              </a:rPr>
              <a:t>Selected model inputs (10 features)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1737360"/>
          <a:ext cx="1088136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926080"/>
                <a:gridCol w="2286000"/>
                <a:gridCol w="3566160"/>
              </a:tblGrid>
              <a:tr h="40732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rgbClr val="1265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Meaning</a:t>
                      </a:r>
                    </a:p>
                  </a:txBody>
                  <a:tcPr>
                    <a:solidFill>
                      <a:srgbClr val="1265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1265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Why selected</a:t>
                      </a:r>
                    </a:p>
                  </a:txBody>
                  <a:tcPr>
                    <a:solidFill>
                      <a:srgbClr val="1265A8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studytime</a:t>
                      </a:r>
                    </a:p>
                  </a:txBody>
                  <a:tcPr>
                    <a:solidFill>
                      <a:srgbClr val="E8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Weekly study time</a:t>
                      </a:r>
                    </a:p>
                  </a:txBody>
                  <a:tcPr>
                    <a:solidFill>
                      <a:srgbClr val="E8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Numeric</a:t>
                      </a:r>
                    </a:p>
                  </a:txBody>
                  <a:tcPr>
                    <a:solidFill>
                      <a:srgbClr val="E8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Strong learning habit signal</a:t>
                      </a:r>
                    </a:p>
                  </a:txBody>
                  <a:tcPr>
                    <a:solidFill>
                      <a:srgbClr val="E8F3FB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failures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Past class failures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Numeric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Important academic risk signal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schoolsup</a:t>
                      </a:r>
                    </a:p>
                  </a:txBody>
                  <a:tcPr>
                    <a:solidFill>
                      <a:srgbClr val="E8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Extra school support</a:t>
                      </a:r>
                    </a:p>
                  </a:txBody>
                  <a:tcPr>
                    <a:solidFill>
                      <a:srgbClr val="E8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Categorical</a:t>
                      </a:r>
                    </a:p>
                  </a:txBody>
                  <a:tcPr>
                    <a:solidFill>
                      <a:srgbClr val="E8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Support indicator</a:t>
                      </a:r>
                    </a:p>
                  </a:txBody>
                  <a:tcPr>
                    <a:solidFill>
                      <a:srgbClr val="E8F3FB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famsup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Family support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Categorical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Home support indicator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activities</a:t>
                      </a:r>
                    </a:p>
                  </a:txBody>
                  <a:tcPr>
                    <a:solidFill>
                      <a:srgbClr val="E8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Extracurricular activities</a:t>
                      </a:r>
                    </a:p>
                  </a:txBody>
                  <a:tcPr>
                    <a:solidFill>
                      <a:srgbClr val="E8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Categorical</a:t>
                      </a:r>
                    </a:p>
                  </a:txBody>
                  <a:tcPr>
                    <a:solidFill>
                      <a:srgbClr val="E8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Engagement indicator</a:t>
                      </a:r>
                    </a:p>
                  </a:txBody>
                  <a:tcPr>
                    <a:solidFill>
                      <a:srgbClr val="E8F3FB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higher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Wants higher education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Categorical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Student motivation signal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internet</a:t>
                      </a:r>
                    </a:p>
                  </a:txBody>
                  <a:tcPr>
                    <a:solidFill>
                      <a:srgbClr val="E8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Home internet access</a:t>
                      </a:r>
                    </a:p>
                  </a:txBody>
                  <a:tcPr>
                    <a:solidFill>
                      <a:srgbClr val="E8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Categorical</a:t>
                      </a:r>
                    </a:p>
                  </a:txBody>
                  <a:tcPr>
                    <a:solidFill>
                      <a:srgbClr val="E8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Learning access indicator</a:t>
                      </a:r>
                    </a:p>
                  </a:txBody>
                  <a:tcPr>
                    <a:solidFill>
                      <a:srgbClr val="E8F3FB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famrel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Family relationship quality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Numeric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Home environment indicator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7323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health</a:t>
                      </a:r>
                    </a:p>
                  </a:txBody>
                  <a:tcPr>
                    <a:solidFill>
                      <a:srgbClr val="E8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Current health</a:t>
                      </a:r>
                    </a:p>
                  </a:txBody>
                  <a:tcPr>
                    <a:solidFill>
                      <a:srgbClr val="E8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Numeric</a:t>
                      </a:r>
                    </a:p>
                  </a:txBody>
                  <a:tcPr>
                    <a:solidFill>
                      <a:srgbClr val="E8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Well-being indicator</a:t>
                      </a:r>
                    </a:p>
                  </a:txBody>
                  <a:tcPr>
                    <a:solidFill>
                      <a:srgbClr val="E8F3FB"/>
                    </a:solidFill>
                  </a:tcPr>
                </a:tc>
              </a:tr>
              <a:tr h="40733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absences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School absences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Numeric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F3E"/>
                          </a:solidFill>
                        </a:rPr>
                        <a:t>Strong attendance signal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1265A8"/>
                </a:solidFill>
              </a:rPr>
              <a:t>BILE Initiative · AI &amp; Machine Learning Track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32720" y="137160"/>
            <a:ext cx="1417320" cy="329184"/>
          </a:xfrm>
          <a:prstGeom prst="roundRect">
            <a:avLst/>
          </a:prstGeom>
          <a:solidFill>
            <a:srgbClr val="E8F3FB"/>
          </a:solidFill>
          <a:ln>
            <a:solidFill>
              <a:srgbClr val="E8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265A8"/>
                </a:solidFill>
              </a:rPr>
              <a:t>DAY 02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530352"/>
            <a:ext cx="11384280" cy="13716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6455664"/>
            <a:ext cx="11384280" cy="13716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83096"/>
            <a:ext cx="4114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F6C7A"/>
                </a:solidFill>
              </a:rPr>
              <a:t>AI &amp; Machine Learning Track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749808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65A8"/>
                </a:solidFill>
              </a:rPr>
              <a:t>PREPARATION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960120"/>
            <a:ext cx="7132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32F3E"/>
                </a:solidFill>
              </a:rPr>
              <a:t>Prepare X, y and save the model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691640"/>
            <a:ext cx="6400800" cy="4480560"/>
          </a:xfrm>
          <a:prstGeom prst="roundRect">
            <a:avLst/>
          </a:prstGeom>
          <a:solidFill>
            <a:srgbClr val="F7FAFC"/>
          </a:solidFill>
          <a:ln>
            <a:solidFill>
              <a:srgbClr val="D4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01952"/>
            <a:ext cx="5989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>features = [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>    "studytime", "failures", "schoolsup", "famsup", "activities",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>    "higher", "internet", "famrel", "health", "absences"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>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>X = df[features].copy()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>y = df["at_risk"].copy()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>model_data = X.copy()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>model_data["at_risk"] = 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232F3E"/>
                </a:solidFill>
                <a:latin typeface="Consolas"/>
              </a:rPr>
              <a:t>model_data.to_csv("/content/student_performance_model_data.csv", index=False)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1691640"/>
            <a:ext cx="38862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4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26679" y="1993392"/>
            <a:ext cx="100584" cy="1005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79" y="192024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232F3E"/>
                </a:solidFill>
              </a:rPr>
              <a:t>X stores the input features.</a:t>
            </a:r>
          </a:p>
        </p:txBody>
      </p:sp>
      <p:sp>
        <p:nvSpPr>
          <p:cNvPr id="15" name="Oval 14"/>
          <p:cNvSpPr/>
          <p:nvPr/>
        </p:nvSpPr>
        <p:spPr>
          <a:xfrm>
            <a:off x="7726679" y="2724912"/>
            <a:ext cx="100584" cy="1005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79" y="265176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232F3E"/>
                </a:solidFill>
              </a:rPr>
              <a:t>y stores the target labels.</a:t>
            </a:r>
          </a:p>
        </p:txBody>
      </p:sp>
      <p:sp>
        <p:nvSpPr>
          <p:cNvPr id="17" name="Oval 16"/>
          <p:cNvSpPr/>
          <p:nvPr/>
        </p:nvSpPr>
        <p:spPr>
          <a:xfrm>
            <a:off x="7726679" y="3456432"/>
            <a:ext cx="100584" cy="1005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79" y="338328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232F3E"/>
                </a:solidFill>
              </a:rPr>
              <a:t>The saved file becomes the clean dataset for the model stage.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1265A8"/>
                </a:solidFill>
              </a:rPr>
              <a:t>BILE Initiative · AI &amp; Machine Learning Track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32720" y="137160"/>
            <a:ext cx="1417320" cy="329184"/>
          </a:xfrm>
          <a:prstGeom prst="roundRect">
            <a:avLst/>
          </a:prstGeom>
          <a:solidFill>
            <a:srgbClr val="E8F3FB"/>
          </a:solidFill>
          <a:ln>
            <a:solidFill>
              <a:srgbClr val="E8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265A8"/>
                </a:solidFill>
              </a:rPr>
              <a:t>DAY 02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530352"/>
            <a:ext cx="11384280" cy="13716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6455664"/>
            <a:ext cx="11384280" cy="13716"/>
          </a:xfrm>
          <a:prstGeom prst="rect">
            <a:avLst/>
          </a:prstGeom>
          <a:solidFill>
            <a:srgbClr val="D4E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83096"/>
            <a:ext cx="4114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F6C7A"/>
                </a:solidFill>
              </a:rPr>
              <a:t>AI &amp; Machine Learning Track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749808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265A8"/>
                </a:solidFill>
              </a:rP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960120"/>
            <a:ext cx="7132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32F3E"/>
                </a:solidFill>
              </a:rPr>
              <a:t>conclusion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83080"/>
            <a:ext cx="649224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4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993392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32F3E"/>
                </a:solidFill>
              </a:rPr>
              <a:t>Key Takeaways</a:t>
            </a:r>
          </a:p>
        </p:txBody>
      </p:sp>
      <p:sp>
        <p:nvSpPr>
          <p:cNvPr id="12" name="Oval 11"/>
          <p:cNvSpPr/>
          <p:nvPr/>
        </p:nvSpPr>
        <p:spPr>
          <a:xfrm>
            <a:off x="1051560" y="2542032"/>
            <a:ext cx="100584" cy="1005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2468880"/>
            <a:ext cx="5577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80">
                <a:solidFill>
                  <a:srgbClr val="232F3E"/>
                </a:solidFill>
              </a:rPr>
              <a:t>We moved from raw student data to a clean, model-ready dataset.</a:t>
            </a:r>
          </a:p>
        </p:txBody>
      </p:sp>
      <p:sp>
        <p:nvSpPr>
          <p:cNvPr id="14" name="Oval 13"/>
          <p:cNvSpPr/>
          <p:nvPr/>
        </p:nvSpPr>
        <p:spPr>
          <a:xfrm>
            <a:off x="1051560" y="3200400"/>
            <a:ext cx="100584" cy="1005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3127248"/>
            <a:ext cx="5577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80">
                <a:solidFill>
                  <a:srgbClr val="232F3E"/>
                </a:solidFill>
              </a:rPr>
              <a:t>We checked structure, quality and duplicates before training.</a:t>
            </a:r>
          </a:p>
        </p:txBody>
      </p:sp>
      <p:sp>
        <p:nvSpPr>
          <p:cNvPr id="16" name="Oval 15"/>
          <p:cNvSpPr/>
          <p:nvPr/>
        </p:nvSpPr>
        <p:spPr>
          <a:xfrm>
            <a:off x="1051560" y="3858768"/>
            <a:ext cx="100584" cy="1005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3785615"/>
            <a:ext cx="5577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80">
                <a:solidFill>
                  <a:srgbClr val="232F3E"/>
                </a:solidFill>
              </a:rPr>
              <a:t>We created the at_risk target from the final grade G3.</a:t>
            </a:r>
          </a:p>
        </p:txBody>
      </p:sp>
      <p:sp>
        <p:nvSpPr>
          <p:cNvPr id="18" name="Oval 17"/>
          <p:cNvSpPr/>
          <p:nvPr/>
        </p:nvSpPr>
        <p:spPr>
          <a:xfrm>
            <a:off x="1051560" y="4517136"/>
            <a:ext cx="100584" cy="100584"/>
          </a:xfrm>
          <a:prstGeom prst="ellipse">
            <a:avLst/>
          </a:prstGeom>
          <a:solidFill>
            <a:srgbClr val="1265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4443983"/>
            <a:ext cx="5577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80">
                <a:solidFill>
                  <a:srgbClr val="232F3E"/>
                </a:solidFill>
              </a:rPr>
              <a:t>We selected 10 practical input features for the first model.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1965960"/>
            <a:ext cx="3611880" cy="2651760"/>
          </a:xfrm>
          <a:prstGeom prst="roundRect">
            <a:avLst/>
          </a:prstGeom>
          <a:solidFill>
            <a:srgbClr val="E8F3FB"/>
          </a:solidFill>
          <a:ln>
            <a:solidFill>
              <a:srgbClr val="D4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79" y="23317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4A7A"/>
                </a:solidFill>
              </a:rPr>
              <a:t>Next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269748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F3E"/>
                </a:solidFill>
              </a:rPr>
              <a:t>Day 03 — Build the baseline model and evaluate its performance.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